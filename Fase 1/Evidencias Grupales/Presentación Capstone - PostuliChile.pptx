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Montserrat SemiBold"/>
      <p:regular r:id="rId15"/>
      <p:bold r:id="rId16"/>
      <p:italic r:id="rId17"/>
      <p:boldItalic r:id="rId18"/>
    </p:embeddedFont>
    <p:embeddedFont>
      <p:font typeface="Inter SemiBold"/>
      <p:regular r:id="rId19"/>
      <p:bold r:id="rId20"/>
      <p:italic r:id="rId21"/>
      <p:boldItalic r:id="rId22"/>
    </p:embeddedFont>
    <p:embeddedFont>
      <p:font typeface="Montserrat Black"/>
      <p:bold r:id="rId23"/>
      <p:boldItalic r:id="rId24"/>
    </p:embeddedFont>
    <p:embeddedFont>
      <p:font typeface="Inter"/>
      <p:regular r:id="rId25"/>
      <p:bold r:id="rId26"/>
      <p:italic r:id="rId27"/>
      <p:boldItalic r:id="rId28"/>
    </p:embeddedFont>
    <p:embeddedFont>
      <p:font typeface="Montserrat"/>
      <p:regular r:id="rId29"/>
      <p:bold r:id="rId30"/>
      <p:italic r:id="rId31"/>
      <p:boldItalic r:id="rId32"/>
    </p:embeddedFont>
    <p:embeddedFont>
      <p:font typeface="Inter ExtraBold"/>
      <p:bold r:id="rId33"/>
      <p:boldItalic r:id="rId34"/>
    </p:embeddedFont>
    <p:embeddedFont>
      <p:font typeface="Montserrat ExtraBold"/>
      <p:bold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bold.fntdata"/><Relationship Id="rId22" Type="http://schemas.openxmlformats.org/officeDocument/2006/relationships/font" Target="fonts/InterSemiBold-boldItalic.fntdata"/><Relationship Id="rId21" Type="http://schemas.openxmlformats.org/officeDocument/2006/relationships/font" Target="fonts/InterSemiBold-italic.fntdata"/><Relationship Id="rId24" Type="http://schemas.openxmlformats.org/officeDocument/2006/relationships/font" Target="fonts/MontserratBlack-boldItalic.fntdata"/><Relationship Id="rId23" Type="http://schemas.openxmlformats.org/officeDocument/2006/relationships/font" Target="fonts/MontserratBlack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bold.fntdata"/><Relationship Id="rId25" Type="http://schemas.openxmlformats.org/officeDocument/2006/relationships/font" Target="fonts/Inter-regular.fntdata"/><Relationship Id="rId28" Type="http://schemas.openxmlformats.org/officeDocument/2006/relationships/font" Target="fonts/Inter-boldItalic.fntdata"/><Relationship Id="rId27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-italic.fntdata"/><Relationship Id="rId30" Type="http://schemas.openxmlformats.org/officeDocument/2006/relationships/font" Target="fonts/Montserrat-bold.fntdata"/><Relationship Id="rId11" Type="http://schemas.openxmlformats.org/officeDocument/2006/relationships/slide" Target="slides/slide6.xml"/><Relationship Id="rId33" Type="http://schemas.openxmlformats.org/officeDocument/2006/relationships/font" Target="fonts/InterExtraBold-bold.fntdata"/><Relationship Id="rId10" Type="http://schemas.openxmlformats.org/officeDocument/2006/relationships/slide" Target="slides/slide5.xml"/><Relationship Id="rId32" Type="http://schemas.openxmlformats.org/officeDocument/2006/relationships/font" Target="fonts/Montserrat-boldItalic.fntdata"/><Relationship Id="rId13" Type="http://schemas.openxmlformats.org/officeDocument/2006/relationships/slide" Target="slides/slide8.xml"/><Relationship Id="rId35" Type="http://schemas.openxmlformats.org/officeDocument/2006/relationships/font" Target="fonts/MontserratExtraBold-bold.fntdata"/><Relationship Id="rId12" Type="http://schemas.openxmlformats.org/officeDocument/2006/relationships/slide" Target="slides/slide7.xml"/><Relationship Id="rId34" Type="http://schemas.openxmlformats.org/officeDocument/2006/relationships/font" Target="fonts/InterExtraBold-boldItalic.fntdata"/><Relationship Id="rId15" Type="http://schemas.openxmlformats.org/officeDocument/2006/relationships/font" Target="fonts/MontserratSemiBold-regular.fntdata"/><Relationship Id="rId14" Type="http://schemas.openxmlformats.org/officeDocument/2006/relationships/slide" Target="slides/slide9.xml"/><Relationship Id="rId36" Type="http://schemas.openxmlformats.org/officeDocument/2006/relationships/font" Target="fonts/MontserratExtraBold-boldItalic.fntdata"/><Relationship Id="rId17" Type="http://schemas.openxmlformats.org/officeDocument/2006/relationships/font" Target="fonts/MontserratSemiBold-italic.fntdata"/><Relationship Id="rId16" Type="http://schemas.openxmlformats.org/officeDocument/2006/relationships/font" Target="fonts/MontserratSemiBold-bold.fntdata"/><Relationship Id="rId19" Type="http://schemas.openxmlformats.org/officeDocument/2006/relationships/font" Target="fonts/InterSemiBold-regular.fntdata"/><Relationship Id="rId18" Type="http://schemas.openxmlformats.org/officeDocument/2006/relationships/font" Target="fonts/MontserratSemiBol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f8b1005b97_1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3f8b1005b97_1_1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8.png"/><Relationship Id="rId6" Type="http://schemas.openxmlformats.org/officeDocument/2006/relationships/image" Target="../media/image15.png"/><Relationship Id="rId7" Type="http://schemas.openxmlformats.org/officeDocument/2006/relationships/image" Target="../media/image19.png"/><Relationship Id="rId8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11" Type="http://schemas.openxmlformats.org/officeDocument/2006/relationships/image" Target="../media/image24.png"/><Relationship Id="rId10" Type="http://schemas.openxmlformats.org/officeDocument/2006/relationships/image" Target="../media/image9.png"/><Relationship Id="rId12" Type="http://schemas.openxmlformats.org/officeDocument/2006/relationships/image" Target="../media/image12.png"/><Relationship Id="rId9" Type="http://schemas.openxmlformats.org/officeDocument/2006/relationships/image" Target="../media/image11.png"/><Relationship Id="rId5" Type="http://schemas.openxmlformats.org/officeDocument/2006/relationships/image" Target="../media/image6.png"/><Relationship Id="rId6" Type="http://schemas.openxmlformats.org/officeDocument/2006/relationships/image" Target="../media/image1.png"/><Relationship Id="rId7" Type="http://schemas.openxmlformats.org/officeDocument/2006/relationships/image" Target="../media/image20.png"/><Relationship Id="rId8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17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image" Target="../media/image23.png"/><Relationship Id="rId6" Type="http://schemas.openxmlformats.org/officeDocument/2006/relationships/image" Target="../media/image21.png"/><Relationship Id="rId7" Type="http://schemas.openxmlformats.org/officeDocument/2006/relationships/image" Target="../media/image2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44.png"/><Relationship Id="rId5" Type="http://schemas.openxmlformats.org/officeDocument/2006/relationships/image" Target="../media/image22.png"/><Relationship Id="rId6" Type="http://schemas.openxmlformats.org/officeDocument/2006/relationships/image" Target="../media/image47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30.png"/><Relationship Id="rId10" Type="http://schemas.openxmlformats.org/officeDocument/2006/relationships/image" Target="../media/image34.png"/><Relationship Id="rId13" Type="http://schemas.openxmlformats.org/officeDocument/2006/relationships/image" Target="../media/image31.png"/><Relationship Id="rId1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6.png"/><Relationship Id="rId5" Type="http://schemas.openxmlformats.org/officeDocument/2006/relationships/image" Target="../media/image39.png"/><Relationship Id="rId6" Type="http://schemas.openxmlformats.org/officeDocument/2006/relationships/image" Target="../media/image25.png"/><Relationship Id="rId7" Type="http://schemas.openxmlformats.org/officeDocument/2006/relationships/image" Target="../media/image28.png"/><Relationship Id="rId8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43.png"/><Relationship Id="rId10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3.png"/><Relationship Id="rId9" Type="http://schemas.openxmlformats.org/officeDocument/2006/relationships/image" Target="../media/image41.png"/><Relationship Id="rId5" Type="http://schemas.openxmlformats.org/officeDocument/2006/relationships/image" Target="../media/image35.png"/><Relationship Id="rId6" Type="http://schemas.openxmlformats.org/officeDocument/2006/relationships/image" Target="../media/image45.png"/><Relationship Id="rId7" Type="http://schemas.openxmlformats.org/officeDocument/2006/relationships/image" Target="../media/image38.png"/><Relationship Id="rId8" Type="http://schemas.openxmlformats.org/officeDocument/2006/relationships/image" Target="../media/image4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6172200" cy="872728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762000" y="2330797"/>
            <a:ext cx="4648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9E0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PROYECTO APT · CAPSTONE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2664172"/>
            <a:ext cx="4880700" cy="8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25" u="none" cap="none" strike="noStrike">
                <a:solidFill>
                  <a:srgbClr val="0F172A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PostuliChile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62000" y="3592859"/>
            <a:ext cx="4648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Aplicación móvil para acompañar la búsqueda y postulación laboral de personas con baja experiencia digital.</a:t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6172200" y="0"/>
            <a:ext cx="6019800" cy="8727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762000" y="4937096"/>
            <a:ext cx="4648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Elaborado por:</a:t>
            </a:r>
            <a:endParaRPr sz="1200">
              <a:solidFill>
                <a:srgbClr val="0F172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Inter SemiBold"/>
              <a:buChar char="●"/>
            </a:pPr>
            <a:r>
              <a:rPr i="0" lang="en-US" sz="12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Martina Gutiérrez</a:t>
            </a:r>
            <a:endParaRPr i="0" sz="1200" u="none" cap="none" strike="noStrike">
              <a:solidFill>
                <a:srgbClr val="0F172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Inter SemiBold"/>
              <a:buChar char="●"/>
            </a:pPr>
            <a:r>
              <a:rPr lang="en-US" sz="12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Daniel Rodríguez</a:t>
            </a:r>
            <a:endParaRPr sz="1200">
              <a:solidFill>
                <a:srgbClr val="0F172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Inter SemiBold"/>
              <a:buChar char="●"/>
            </a:pPr>
            <a:r>
              <a:rPr lang="en-US" sz="12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Martina Venegas</a:t>
            </a:r>
            <a:endParaRPr sz="1200">
              <a:solidFill>
                <a:srgbClr val="0F172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762000" y="6135588"/>
            <a:ext cx="46482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Ingeniería en Informática · Duoc UC · Sede Maipú</a:t>
            </a:r>
            <a:endParaRPr/>
          </a:p>
        </p:txBody>
      </p:sp>
      <p:pic>
        <p:nvPicPr>
          <p:cNvPr id="92" name="Google Shape;92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72198" y="1160898"/>
            <a:ext cx="5731900" cy="377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1676400"/>
            <a:ext cx="5191125" cy="4705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676400"/>
            <a:ext cx="5191125" cy="470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666750" y="476250"/>
            <a:ext cx="10858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9E0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DESCRIPCIÓN DEL PROYECTO APT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66750" y="7620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¿Qué es PostuliChile?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666750" y="1371600"/>
            <a:ext cx="10858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1323975" y="2019300"/>
            <a:ext cx="44005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Asistente Laboral Digital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009650" y="2486025"/>
            <a:ext cx="450532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Una solución tecnológica diseñada para </a:t>
            </a:r>
            <a:r>
              <a:rPr b="1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facilitar la autonomía</a:t>
            </a:r>
            <a:r>
              <a:rPr b="0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de personas adultas en procesos de búsqueda laboral digitales, disminuyendo la dependencia tecnológica.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7153275" y="2019300"/>
            <a:ext cx="4230528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Valor Agregado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705600" y="2486025"/>
            <a:ext cx="44767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La aplicación integrará herramientas de </a:t>
            </a:r>
            <a:r>
              <a:rPr b="1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Inteligencia Artificial</a:t>
            </a:r>
            <a:r>
              <a:rPr b="0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para:</a:t>
            </a:r>
            <a:endParaRPr/>
          </a:p>
        </p:txBody>
      </p:sp>
      <p:pic>
        <p:nvPicPr>
          <p:cNvPr descr="image.png" id="107" name="Google Shape;10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9650" y="2024062"/>
            <a:ext cx="2000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1295400" y="3550741"/>
            <a:ext cx="42195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Creación de perfiles y búsqueda intuitiva.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295400" y="3922216"/>
            <a:ext cx="42195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Traducción de requisitos técnicos a lenguaje claro.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1295400" y="4293691"/>
            <a:ext cx="42195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Orientación guiada durante todo el proceso de postulación.</a:t>
            </a:r>
            <a:endParaRPr/>
          </a:p>
        </p:txBody>
      </p:sp>
      <p:pic>
        <p:nvPicPr>
          <p:cNvPr descr="image.png" id="111" name="Google Shape;11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05600" y="2024062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4"/>
          <p:cNvSpPr txBox="1"/>
          <p:nvPr/>
        </p:nvSpPr>
        <p:spPr>
          <a:xfrm>
            <a:off x="6991350" y="3116460"/>
            <a:ext cx="4191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Simplificar la comprensión de las ofertas laborales.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6991350" y="3487935"/>
            <a:ext cx="4191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Identificar compatibilidad entre el usuario y el cargo.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6991350" y="4059435"/>
            <a:ext cx="4191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Apoyar la preparación de respuestas basadas en antecedentes reales.</a:t>
            </a:r>
            <a:endParaRPr/>
          </a:p>
        </p:txBody>
      </p:sp>
      <p:pic>
        <p:nvPicPr>
          <p:cNvPr descr="image.png" id="115" name="Google Shape;115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09650" y="3569791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09650" y="3941266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09650" y="4312741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05600" y="313551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05600" y="3506985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05600" y="4078485"/>
            <a:ext cx="952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3099345"/>
            <a:ext cx="3460700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65575" y="3099345"/>
            <a:ext cx="3460700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3099345"/>
            <a:ext cx="3460849" cy="241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666750" y="476250"/>
            <a:ext cx="10858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9E0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ÁREAS DE DESEMPEÑO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666750" y="7620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Relación con el Perfil de Egreso</a:t>
            </a:r>
            <a:endParaRPr/>
          </a:p>
        </p:txBody>
      </p:sp>
      <p:sp>
        <p:nvSpPr>
          <p:cNvPr id="131" name="Google Shape;131;p15"/>
          <p:cNvSpPr/>
          <p:nvPr/>
        </p:nvSpPr>
        <p:spPr>
          <a:xfrm>
            <a:off x="666750" y="1371600"/>
            <a:ext cx="10858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 txBox="1"/>
          <p:nvPr/>
        </p:nvSpPr>
        <p:spPr>
          <a:xfrm>
            <a:off x="666675" y="1823043"/>
            <a:ext cx="108585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El proyecto permite integrar conocimientos </a:t>
            </a:r>
            <a:br>
              <a:rPr b="1" i="0" lang="en-US" sz="25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i="0" lang="en-US" sz="25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de la carrera aplicados a una problemática social real.</a:t>
            </a:r>
            <a:endParaRPr b="1" sz="2600"/>
          </a:p>
        </p:txBody>
      </p:sp>
      <p:pic>
        <p:nvPicPr>
          <p:cNvPr descr="image.png" id="133" name="Google Shape;13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4400" y="339462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5"/>
          <p:cNvSpPr txBox="1"/>
          <p:nvPr/>
        </p:nvSpPr>
        <p:spPr>
          <a:xfrm>
            <a:off x="914400" y="4013745"/>
            <a:ext cx="311367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Desarrollo &amp; UX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914400" y="4337595"/>
            <a:ext cx="296540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Desarrollo de aplicaciones móviles e interfaces accesibles centradas en las necesidades reales de los usuarios finales.</a:t>
            </a:r>
            <a:endParaRPr/>
          </a:p>
        </p:txBody>
      </p:sp>
      <p:pic>
        <p:nvPicPr>
          <p:cNvPr descr="image.png" id="136" name="Google Shape;136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13225" y="339462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5"/>
          <p:cNvSpPr txBox="1"/>
          <p:nvPr/>
        </p:nvSpPr>
        <p:spPr>
          <a:xfrm>
            <a:off x="4613225" y="4013745"/>
            <a:ext cx="311367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Arquitectura &amp; APIs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4613225" y="4337595"/>
            <a:ext cx="29654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Diseño de arquitectura de software escalable, modelamiento de bases de datos e integración de servicios externos vía APIs REST.</a:t>
            </a:r>
            <a:endParaRPr/>
          </a:p>
        </p:txBody>
      </p:sp>
      <p:pic>
        <p:nvPicPr>
          <p:cNvPr descr="image.png" id="139" name="Google Shape;139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12050" y="339462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5"/>
          <p:cNvSpPr txBox="1"/>
          <p:nvPr/>
        </p:nvSpPr>
        <p:spPr>
          <a:xfrm>
            <a:off x="8312050" y="4013745"/>
            <a:ext cx="311382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Análisis &amp; Calidad (QA)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8312050" y="4337595"/>
            <a:ext cx="2965549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Levantamiento sistemático de requerimientos y ejecución de pruebas de calidad y usabilidad de software.</a:t>
            </a:r>
            <a:endParaRPr/>
          </a:p>
        </p:txBody>
      </p:sp>
      <p:pic>
        <p:nvPicPr>
          <p:cNvPr descr="image.png" id="142" name="Google Shape;142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71562" y="3527970"/>
            <a:ext cx="1619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60862" y="3527970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445400" y="3527970"/>
            <a:ext cx="209550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9" name="Google Shape;14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1676400"/>
            <a:ext cx="5191125" cy="4705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676400"/>
            <a:ext cx="5191125" cy="470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6"/>
          <p:cNvSpPr txBox="1"/>
          <p:nvPr/>
        </p:nvSpPr>
        <p:spPr>
          <a:xfrm>
            <a:off x="666750" y="476250"/>
            <a:ext cx="10858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9E0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VIABILIDAD DE EJECUCIÓN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666750" y="7620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Factibilidad del Proyecto</a:t>
            </a:r>
            <a:endParaRPr/>
          </a:p>
        </p:txBody>
      </p:sp>
      <p:sp>
        <p:nvSpPr>
          <p:cNvPr id="154" name="Google Shape;154;p16"/>
          <p:cNvSpPr/>
          <p:nvPr/>
        </p:nvSpPr>
        <p:spPr>
          <a:xfrm>
            <a:off x="666750" y="1371600"/>
            <a:ext cx="10858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 txBox="1"/>
          <p:nvPr/>
        </p:nvSpPr>
        <p:spPr>
          <a:xfrm>
            <a:off x="1390650" y="2019300"/>
            <a:ext cx="4330541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Factores a Favor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7058025" y="2019300"/>
            <a:ext cx="4330541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Mitigación de Riesgos</a:t>
            </a:r>
            <a:endParaRPr/>
          </a:p>
        </p:txBody>
      </p:sp>
      <p:pic>
        <p:nvPicPr>
          <p:cNvPr descr="image.png" id="157" name="Google Shape;15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9650" y="2024062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/>
        </p:nvSpPr>
        <p:spPr>
          <a:xfrm>
            <a:off x="1295400" y="2486025"/>
            <a:ext cx="42195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Tiempo:</a:t>
            </a: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Planificación adaptada a ~180 horas (19 semanas).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1295400" y="3057525"/>
            <a:ext cx="42195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Alcance Controlado:</a:t>
            </a: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Desarrollo basado en un Producto Mínimo Viable (MVP).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1295400" y="3629025"/>
            <a:ext cx="42195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Stack Conocido:</a:t>
            </a: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Uso de herramientas dominadas por el equipo (Angular, Node.js, SQL, Github</a:t>
            </a:r>
            <a:r>
              <a:rPr lang="en-US" sz="135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, Android studio</a:t>
            </a: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1295400" y="4371975"/>
            <a:ext cx="4219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Datos:</a:t>
            </a: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Uso inicial de datos controlados para no depender de plataformas externas inestables.</a:t>
            </a:r>
            <a:endParaRPr/>
          </a:p>
        </p:txBody>
      </p:sp>
      <p:pic>
        <p:nvPicPr>
          <p:cNvPr descr="image.png" id="162" name="Google Shape;16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77025" y="2024062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6"/>
          <p:cNvSpPr txBox="1"/>
          <p:nvPr/>
        </p:nvSpPr>
        <p:spPr>
          <a:xfrm>
            <a:off x="6962775" y="2486025"/>
            <a:ext cx="421957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Pruebas de Usuario:</a:t>
            </a: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Se coordinará anticipadamente con personas del segmento para asegurar su disponibilidad.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6962775" y="3257550"/>
            <a:ext cx="421957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IA y Automatización:</a:t>
            </a: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Se desarrollará por capas, asegurando primero el funcionamiento del núcleo (core) antes de sumar complejidad.</a:t>
            </a:r>
            <a:endParaRPr/>
          </a:p>
        </p:txBody>
      </p:sp>
      <p:pic>
        <p:nvPicPr>
          <p:cNvPr descr="image.png" id="165" name="Google Shape;165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09650" y="2505075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09650" y="3076575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09650" y="3648075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09650" y="4409835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77025" y="2505075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77025" y="3276600"/>
            <a:ext cx="952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898" y="4241006"/>
            <a:ext cx="3524101" cy="6752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3875" y="4241006"/>
            <a:ext cx="3524101" cy="6752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00851" y="4241006"/>
            <a:ext cx="3524101" cy="6752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6898" y="5059114"/>
            <a:ext cx="3524101" cy="8361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33875" y="5059114"/>
            <a:ext cx="3524101" cy="8361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00851" y="5059114"/>
            <a:ext cx="3524101" cy="836116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7"/>
          <p:cNvSpPr txBox="1"/>
          <p:nvPr/>
        </p:nvSpPr>
        <p:spPr>
          <a:xfrm>
            <a:off x="666750" y="476250"/>
            <a:ext cx="10858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9E0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ESTRATEGIA Y DESGLOSE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666750" y="7620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Objetivos del Proyecto</a:t>
            </a:r>
            <a:endParaRPr/>
          </a:p>
        </p:txBody>
      </p:sp>
      <p:sp>
        <p:nvSpPr>
          <p:cNvPr id="184" name="Google Shape;184;p17"/>
          <p:cNvSpPr/>
          <p:nvPr/>
        </p:nvSpPr>
        <p:spPr>
          <a:xfrm>
            <a:off x="666750" y="1371600"/>
            <a:ext cx="10858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 txBox="1"/>
          <p:nvPr/>
        </p:nvSpPr>
        <p:spPr>
          <a:xfrm>
            <a:off x="395287" y="3888581"/>
            <a:ext cx="114014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Objetivos Específicos:</a:t>
            </a:r>
            <a:endParaRPr/>
          </a:p>
        </p:txBody>
      </p:sp>
      <p:sp>
        <p:nvSpPr>
          <p:cNvPr id="186" name="Google Shape;186;p17"/>
          <p:cNvSpPr/>
          <p:nvPr/>
        </p:nvSpPr>
        <p:spPr>
          <a:xfrm>
            <a:off x="1809750" y="2162919"/>
            <a:ext cx="8572500" cy="1439912"/>
          </a:xfrm>
          <a:prstGeom prst="roundRect">
            <a:avLst>
              <a:gd fmla="val 793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 txBox="1"/>
          <p:nvPr/>
        </p:nvSpPr>
        <p:spPr>
          <a:xfrm>
            <a:off x="2190750" y="2353419"/>
            <a:ext cx="7810500" cy="105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"Desarrollar una aplicación móvil accesible e intuitiva que facilite y acompañe a personas con poca experiencia digital, durante el proceso de búsqueda y postulación laboral."</a:t>
            </a:r>
            <a:endParaRPr/>
          </a:p>
        </p:txBody>
      </p:sp>
      <p:sp>
        <p:nvSpPr>
          <p:cNvPr id="188" name="Google Shape;188;p17"/>
          <p:cNvSpPr txBox="1"/>
          <p:nvPr/>
        </p:nvSpPr>
        <p:spPr>
          <a:xfrm>
            <a:off x="847873" y="4383881"/>
            <a:ext cx="95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9E0B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1</a:t>
            </a:r>
            <a:endParaRPr/>
          </a:p>
        </p:txBody>
      </p:sp>
      <p:sp>
        <p:nvSpPr>
          <p:cNvPr id="189" name="Google Shape;189;p17"/>
          <p:cNvSpPr txBox="1"/>
          <p:nvPr/>
        </p:nvSpPr>
        <p:spPr>
          <a:xfrm>
            <a:off x="4514850" y="4383881"/>
            <a:ext cx="142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9E0B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2</a:t>
            </a:r>
            <a:endParaRPr/>
          </a:p>
        </p:txBody>
      </p:sp>
      <p:sp>
        <p:nvSpPr>
          <p:cNvPr id="190" name="Google Shape;190;p17"/>
          <p:cNvSpPr txBox="1"/>
          <p:nvPr/>
        </p:nvSpPr>
        <p:spPr>
          <a:xfrm>
            <a:off x="8181826" y="4383881"/>
            <a:ext cx="142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9E0B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3</a:t>
            </a:r>
            <a:endParaRPr/>
          </a:p>
        </p:txBody>
      </p:sp>
      <p:sp>
        <p:nvSpPr>
          <p:cNvPr id="191" name="Google Shape;191;p17"/>
          <p:cNvSpPr txBox="1"/>
          <p:nvPr/>
        </p:nvSpPr>
        <p:spPr>
          <a:xfrm>
            <a:off x="847873" y="5201989"/>
            <a:ext cx="1619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9E0B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4</a:t>
            </a:r>
            <a:endParaRPr/>
          </a:p>
        </p:txBody>
      </p:sp>
      <p:sp>
        <p:nvSpPr>
          <p:cNvPr id="192" name="Google Shape;192;p17"/>
          <p:cNvSpPr txBox="1"/>
          <p:nvPr/>
        </p:nvSpPr>
        <p:spPr>
          <a:xfrm>
            <a:off x="4514850" y="5201989"/>
            <a:ext cx="142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9E0B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5</a:t>
            </a:r>
            <a:endParaRPr/>
          </a:p>
        </p:txBody>
      </p:sp>
      <p:sp>
        <p:nvSpPr>
          <p:cNvPr id="193" name="Google Shape;193;p17"/>
          <p:cNvSpPr txBox="1"/>
          <p:nvPr/>
        </p:nvSpPr>
        <p:spPr>
          <a:xfrm>
            <a:off x="8181826" y="5201989"/>
            <a:ext cx="15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9E0B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6</a:t>
            </a:r>
            <a:endParaRPr/>
          </a:p>
        </p:txBody>
      </p:sp>
      <p:sp>
        <p:nvSpPr>
          <p:cNvPr id="194" name="Google Shape;194;p17"/>
          <p:cNvSpPr txBox="1"/>
          <p:nvPr/>
        </p:nvSpPr>
        <p:spPr>
          <a:xfrm>
            <a:off x="1085998" y="4383881"/>
            <a:ext cx="2950368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Identificar</a:t>
            </a:r>
            <a:endParaRPr/>
          </a:p>
        </p:txBody>
      </p:sp>
      <p:sp>
        <p:nvSpPr>
          <p:cNvPr id="195" name="Google Shape;195;p17"/>
          <p:cNvSpPr txBox="1"/>
          <p:nvPr/>
        </p:nvSpPr>
        <p:spPr>
          <a:xfrm>
            <a:off x="1085998" y="4612481"/>
            <a:ext cx="2809875" cy="160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Dificultades y necesidades del público objetivo.</a:t>
            </a:r>
            <a:endParaRPr/>
          </a:p>
        </p:txBody>
      </p:sp>
      <p:sp>
        <p:nvSpPr>
          <p:cNvPr id="196" name="Google Shape;196;p17"/>
          <p:cNvSpPr txBox="1"/>
          <p:nvPr/>
        </p:nvSpPr>
        <p:spPr>
          <a:xfrm>
            <a:off x="4800600" y="4383881"/>
            <a:ext cx="2690336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Diseñar UX</a:t>
            </a:r>
            <a:endParaRPr/>
          </a:p>
        </p:txBody>
      </p:sp>
      <p:sp>
        <p:nvSpPr>
          <p:cNvPr id="197" name="Google Shape;197;p17"/>
          <p:cNvSpPr txBox="1"/>
          <p:nvPr/>
        </p:nvSpPr>
        <p:spPr>
          <a:xfrm>
            <a:off x="4800600" y="4612481"/>
            <a:ext cx="2562225" cy="160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Interfaz accesible y de navegación sencilla.</a:t>
            </a:r>
            <a:endParaRPr/>
          </a:p>
        </p:txBody>
      </p:sp>
      <p:sp>
        <p:nvSpPr>
          <p:cNvPr id="198" name="Google Shape;198;p17"/>
          <p:cNvSpPr txBox="1"/>
          <p:nvPr/>
        </p:nvSpPr>
        <p:spPr>
          <a:xfrm>
            <a:off x="8467576" y="4383881"/>
            <a:ext cx="3030378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Construir</a:t>
            </a:r>
            <a:endParaRPr/>
          </a:p>
        </p:txBody>
      </p:sp>
      <p:sp>
        <p:nvSpPr>
          <p:cNvPr id="199" name="Google Shape;199;p17"/>
          <p:cNvSpPr txBox="1"/>
          <p:nvPr/>
        </p:nvSpPr>
        <p:spPr>
          <a:xfrm>
            <a:off x="8467576" y="4612481"/>
            <a:ext cx="2886075" cy="160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Perfil para gestionar antecedentes y habilidades.</a:t>
            </a:r>
            <a:endParaRPr/>
          </a:p>
        </p:txBody>
      </p:sp>
      <p:sp>
        <p:nvSpPr>
          <p:cNvPr id="200" name="Google Shape;200;p17"/>
          <p:cNvSpPr txBox="1"/>
          <p:nvPr/>
        </p:nvSpPr>
        <p:spPr>
          <a:xfrm>
            <a:off x="1152673" y="5201989"/>
            <a:ext cx="2990373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Implementar</a:t>
            </a:r>
            <a:endParaRPr/>
          </a:p>
        </p:txBody>
      </p:sp>
      <p:sp>
        <p:nvSpPr>
          <p:cNvPr id="201" name="Google Shape;201;p17"/>
          <p:cNvSpPr txBox="1"/>
          <p:nvPr/>
        </p:nvSpPr>
        <p:spPr>
          <a:xfrm>
            <a:off x="1152673" y="5430589"/>
            <a:ext cx="2847975" cy="160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Búsqueda, filtrado y visualización comprensible.</a:t>
            </a:r>
            <a:endParaRPr/>
          </a:p>
        </p:txBody>
      </p:sp>
      <p:sp>
        <p:nvSpPr>
          <p:cNvPr id="202" name="Google Shape;202;p17"/>
          <p:cNvSpPr txBox="1"/>
          <p:nvPr/>
        </p:nvSpPr>
        <p:spPr>
          <a:xfrm>
            <a:off x="4800600" y="5201989"/>
            <a:ext cx="3060226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Apoyar</a:t>
            </a:r>
            <a:endParaRPr/>
          </a:p>
        </p:txBody>
      </p:sp>
      <p:sp>
        <p:nvSpPr>
          <p:cNvPr id="203" name="Google Shape;203;p17"/>
          <p:cNvSpPr txBox="1"/>
          <p:nvPr/>
        </p:nvSpPr>
        <p:spPr>
          <a:xfrm>
            <a:off x="4800600" y="5430589"/>
            <a:ext cx="2914501" cy="3217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Orientar en postulaciones y seguimiento de estado.</a:t>
            </a:r>
            <a:endParaRPr/>
          </a:p>
        </p:txBody>
      </p:sp>
      <p:sp>
        <p:nvSpPr>
          <p:cNvPr id="204" name="Google Shape;204;p17"/>
          <p:cNvSpPr txBox="1"/>
          <p:nvPr/>
        </p:nvSpPr>
        <p:spPr>
          <a:xfrm>
            <a:off x="8477101" y="5201989"/>
            <a:ext cx="2890361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Evaluar IA</a:t>
            </a:r>
            <a:endParaRPr/>
          </a:p>
        </p:txBody>
      </p:sp>
      <p:sp>
        <p:nvSpPr>
          <p:cNvPr id="205" name="Google Shape;205;p17"/>
          <p:cNvSpPr txBox="1"/>
          <p:nvPr/>
        </p:nvSpPr>
        <p:spPr>
          <a:xfrm>
            <a:off x="8477101" y="5430589"/>
            <a:ext cx="2752725" cy="160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Integrar asistencia y análisis de compatibilidad.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91500" y="1676400"/>
            <a:ext cx="3333750" cy="4705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1800281"/>
            <a:ext cx="7048500" cy="74667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8"/>
          <p:cNvSpPr txBox="1"/>
          <p:nvPr/>
        </p:nvSpPr>
        <p:spPr>
          <a:xfrm>
            <a:off x="666750" y="476250"/>
            <a:ext cx="10858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9E0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SCRUM + ENFOQUE ÁGIL</a:t>
            </a:r>
            <a:endParaRPr/>
          </a:p>
        </p:txBody>
      </p:sp>
      <p:sp>
        <p:nvSpPr>
          <p:cNvPr id="214" name="Google Shape;214;p18"/>
          <p:cNvSpPr txBox="1"/>
          <p:nvPr/>
        </p:nvSpPr>
        <p:spPr>
          <a:xfrm>
            <a:off x="666750" y="7620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Metodología de Trabajo</a:t>
            </a:r>
            <a:endParaRPr/>
          </a:p>
        </p:txBody>
      </p:sp>
      <p:sp>
        <p:nvSpPr>
          <p:cNvPr id="215" name="Google Shape;215;p18"/>
          <p:cNvSpPr/>
          <p:nvPr/>
        </p:nvSpPr>
        <p:spPr>
          <a:xfrm>
            <a:off x="666750" y="1371600"/>
            <a:ext cx="10858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8"/>
          <p:cNvSpPr txBox="1"/>
          <p:nvPr/>
        </p:nvSpPr>
        <p:spPr>
          <a:xfrm>
            <a:off x="8477250" y="2262633"/>
            <a:ext cx="29003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Roles del Equipo</a:t>
            </a:r>
            <a:endParaRPr/>
          </a:p>
        </p:txBody>
      </p:sp>
      <p:sp>
        <p:nvSpPr>
          <p:cNvPr id="217" name="Google Shape;217;p18"/>
          <p:cNvSpPr txBox="1"/>
          <p:nvPr/>
        </p:nvSpPr>
        <p:spPr>
          <a:xfrm>
            <a:off x="8477250" y="2719833"/>
            <a:ext cx="2900362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59E0B"/>
                </a:solidFill>
                <a:latin typeface="Montserrat"/>
                <a:ea typeface="Montserrat"/>
                <a:cs typeface="Montserrat"/>
                <a:sym typeface="Montserrat"/>
              </a:rPr>
              <a:t>Product Owner</a:t>
            </a:r>
            <a:endParaRPr/>
          </a:p>
        </p:txBody>
      </p:sp>
      <p:sp>
        <p:nvSpPr>
          <p:cNvPr id="218" name="Google Shape;218;p18"/>
          <p:cNvSpPr txBox="1"/>
          <p:nvPr/>
        </p:nvSpPr>
        <p:spPr>
          <a:xfrm>
            <a:off x="8477250" y="2977008"/>
            <a:ext cx="27622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Martina Gutiérrez</a:t>
            </a:r>
            <a:endParaRPr/>
          </a:p>
        </p:txBody>
      </p:sp>
      <p:sp>
        <p:nvSpPr>
          <p:cNvPr id="219" name="Google Shape;219;p18"/>
          <p:cNvSpPr txBox="1"/>
          <p:nvPr/>
        </p:nvSpPr>
        <p:spPr>
          <a:xfrm>
            <a:off x="8477250" y="3239839"/>
            <a:ext cx="2762250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Prioriza backlog y salvaguarda las necesidades del usuario.</a:t>
            </a:r>
            <a:endParaRPr/>
          </a:p>
        </p:txBody>
      </p:sp>
      <p:sp>
        <p:nvSpPr>
          <p:cNvPr id="220" name="Google Shape;220;p18"/>
          <p:cNvSpPr txBox="1"/>
          <p:nvPr/>
        </p:nvSpPr>
        <p:spPr>
          <a:xfrm>
            <a:off x="8477250" y="3824436"/>
            <a:ext cx="2900362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59E0B"/>
                </a:solidFill>
                <a:latin typeface="Montserrat"/>
                <a:ea typeface="Montserrat"/>
                <a:cs typeface="Montserrat"/>
                <a:sym typeface="Montserrat"/>
              </a:rPr>
              <a:t>Scrum Master</a:t>
            </a:r>
            <a:endParaRPr/>
          </a:p>
        </p:txBody>
      </p:sp>
      <p:sp>
        <p:nvSpPr>
          <p:cNvPr id="221" name="Google Shape;221;p18"/>
          <p:cNvSpPr txBox="1"/>
          <p:nvPr/>
        </p:nvSpPr>
        <p:spPr>
          <a:xfrm>
            <a:off x="8477250" y="4081611"/>
            <a:ext cx="27622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Martina Venegas</a:t>
            </a:r>
            <a:endParaRPr/>
          </a:p>
        </p:txBody>
      </p:sp>
      <p:sp>
        <p:nvSpPr>
          <p:cNvPr id="222" name="Google Shape;222;p18"/>
          <p:cNvSpPr txBox="1"/>
          <p:nvPr/>
        </p:nvSpPr>
        <p:spPr>
          <a:xfrm>
            <a:off x="8477250" y="4344441"/>
            <a:ext cx="2762250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Facilita coordinación, elimina obstáculos y guía la metodología.</a:t>
            </a:r>
            <a:endParaRPr/>
          </a:p>
        </p:txBody>
      </p:sp>
      <p:sp>
        <p:nvSpPr>
          <p:cNvPr id="223" name="Google Shape;223;p18"/>
          <p:cNvSpPr txBox="1"/>
          <p:nvPr/>
        </p:nvSpPr>
        <p:spPr>
          <a:xfrm>
            <a:off x="8477250" y="4929038"/>
            <a:ext cx="2900362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59E0B"/>
                </a:solidFill>
                <a:latin typeface="Montserrat"/>
                <a:ea typeface="Montserrat"/>
                <a:cs typeface="Montserrat"/>
                <a:sym typeface="Montserrat"/>
              </a:rPr>
              <a:t>Dev Team</a:t>
            </a:r>
            <a:endParaRPr/>
          </a:p>
        </p:txBody>
      </p:sp>
      <p:sp>
        <p:nvSpPr>
          <p:cNvPr id="224" name="Google Shape;224;p18"/>
          <p:cNvSpPr txBox="1"/>
          <p:nvPr/>
        </p:nvSpPr>
        <p:spPr>
          <a:xfrm>
            <a:off x="8477250" y="5186213"/>
            <a:ext cx="27622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Daniel Rodríguez + equipo</a:t>
            </a:r>
            <a:endParaRPr/>
          </a:p>
        </p:txBody>
      </p:sp>
      <p:sp>
        <p:nvSpPr>
          <p:cNvPr id="225" name="Google Shape;225;p18"/>
          <p:cNvSpPr txBox="1"/>
          <p:nvPr/>
        </p:nvSpPr>
        <p:spPr>
          <a:xfrm>
            <a:off x="8477250" y="5449044"/>
            <a:ext cx="2762250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Diseña, programa, integra, realiza pruebas y documenta.</a:t>
            </a:r>
            <a:endParaRPr/>
          </a:p>
        </p:txBody>
      </p:sp>
      <p:sp>
        <p:nvSpPr>
          <p:cNvPr id="226" name="Google Shape;226;p18"/>
          <p:cNvSpPr txBox="1"/>
          <p:nvPr/>
        </p:nvSpPr>
        <p:spPr>
          <a:xfrm>
            <a:off x="1438275" y="1952682"/>
            <a:ext cx="3990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Product Backlog</a:t>
            </a:r>
            <a:r>
              <a:rPr b="1" lang="en-US" sz="135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/>
          </a:p>
        </p:txBody>
      </p:sp>
      <p:sp>
        <p:nvSpPr>
          <p:cNvPr id="227" name="Google Shape;227;p18"/>
          <p:cNvSpPr txBox="1"/>
          <p:nvPr/>
        </p:nvSpPr>
        <p:spPr>
          <a:xfrm>
            <a:off x="1438275" y="2204250"/>
            <a:ext cx="5042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Requerimientos e historias de usuario priorizadas.</a:t>
            </a:r>
            <a:endParaRPr sz="105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28" name="Google Shape;228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50125" y="1676400"/>
            <a:ext cx="1154600" cy="1154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2728006"/>
            <a:ext cx="7048500" cy="74667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8"/>
          <p:cNvSpPr txBox="1"/>
          <p:nvPr/>
        </p:nvSpPr>
        <p:spPr>
          <a:xfrm>
            <a:off x="1438275" y="2880407"/>
            <a:ext cx="3990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Sprint Planning:</a:t>
            </a:r>
            <a:endParaRPr b="1" sz="135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1" name="Google Shape;231;p18"/>
          <p:cNvSpPr txBox="1"/>
          <p:nvPr/>
        </p:nvSpPr>
        <p:spPr>
          <a:xfrm>
            <a:off x="1438275" y="3131975"/>
            <a:ext cx="5042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Selección de tareas según prioridad, complejidad y dependencias.</a:t>
            </a:r>
            <a:endParaRPr sz="105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2" name="Google Shape;232;p18"/>
          <p:cNvSpPr/>
          <p:nvPr/>
        </p:nvSpPr>
        <p:spPr>
          <a:xfrm>
            <a:off x="875500" y="1996663"/>
            <a:ext cx="411300" cy="312900"/>
          </a:xfrm>
          <a:prstGeom prst="flowChartConnector">
            <a:avLst/>
          </a:prstGeom>
          <a:solidFill>
            <a:srgbClr val="1D4ED8"/>
          </a:solidFill>
          <a:ln cap="flat" cmpd="sng" w="9525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b="1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3" name="Google Shape;233;p18"/>
          <p:cNvSpPr/>
          <p:nvPr/>
        </p:nvSpPr>
        <p:spPr>
          <a:xfrm>
            <a:off x="875500" y="2944900"/>
            <a:ext cx="411300" cy="312900"/>
          </a:xfrm>
          <a:prstGeom prst="flowChartConnector">
            <a:avLst/>
          </a:prstGeom>
          <a:solidFill>
            <a:srgbClr val="1D4ED8"/>
          </a:solidFill>
          <a:ln cap="flat" cmpd="sng" w="9525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b="1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image.png" id="234" name="Google Shape;23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3655732"/>
            <a:ext cx="7048500" cy="74667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8"/>
          <p:cNvSpPr txBox="1"/>
          <p:nvPr/>
        </p:nvSpPr>
        <p:spPr>
          <a:xfrm>
            <a:off x="1438275" y="3808132"/>
            <a:ext cx="3990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Desarrollo</a:t>
            </a:r>
            <a:r>
              <a:rPr b="1" lang="en-US" sz="135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b="1" sz="135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6" name="Google Shape;236;p18"/>
          <p:cNvSpPr txBox="1"/>
          <p:nvPr/>
        </p:nvSpPr>
        <p:spPr>
          <a:xfrm>
            <a:off x="1438275" y="4059700"/>
            <a:ext cx="5042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Diseño, programación, integración y pruebas.</a:t>
            </a:r>
            <a:endParaRPr sz="105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7" name="Google Shape;237;p18"/>
          <p:cNvSpPr/>
          <p:nvPr/>
        </p:nvSpPr>
        <p:spPr>
          <a:xfrm>
            <a:off x="875500" y="3872625"/>
            <a:ext cx="411300" cy="312900"/>
          </a:xfrm>
          <a:prstGeom prst="flowChartConnector">
            <a:avLst/>
          </a:prstGeom>
          <a:solidFill>
            <a:srgbClr val="1D4ED8"/>
          </a:solidFill>
          <a:ln cap="flat" cmpd="sng" w="9525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b="1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image.png" id="238" name="Google Shape;23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4583457"/>
            <a:ext cx="7048500" cy="74667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8"/>
          <p:cNvSpPr txBox="1"/>
          <p:nvPr/>
        </p:nvSpPr>
        <p:spPr>
          <a:xfrm>
            <a:off x="1438275" y="4735857"/>
            <a:ext cx="3990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Revisión</a:t>
            </a:r>
            <a:r>
              <a:rPr b="1" lang="en-US" sz="135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b="1" sz="135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0" name="Google Shape;240;p18"/>
          <p:cNvSpPr txBox="1"/>
          <p:nvPr/>
        </p:nvSpPr>
        <p:spPr>
          <a:xfrm>
            <a:off x="1438275" y="4987425"/>
            <a:ext cx="5042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Validar funcionalidades frente a requisitos.</a:t>
            </a:r>
            <a:endParaRPr sz="105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1" name="Google Shape;241;p18"/>
          <p:cNvSpPr/>
          <p:nvPr/>
        </p:nvSpPr>
        <p:spPr>
          <a:xfrm>
            <a:off x="875500" y="4800350"/>
            <a:ext cx="411300" cy="312900"/>
          </a:xfrm>
          <a:prstGeom prst="flowChartConnector">
            <a:avLst/>
          </a:prstGeom>
          <a:solidFill>
            <a:srgbClr val="1D4ED8"/>
          </a:solidFill>
          <a:ln cap="flat" cmpd="sng" w="9525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b="1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image.png" id="242" name="Google Shape;24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5511182"/>
            <a:ext cx="7048500" cy="74667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8"/>
          <p:cNvSpPr txBox="1"/>
          <p:nvPr/>
        </p:nvSpPr>
        <p:spPr>
          <a:xfrm>
            <a:off x="1438275" y="5663582"/>
            <a:ext cx="3990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Retrospectiva:</a:t>
            </a:r>
            <a:endParaRPr b="1" sz="135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4" name="Google Shape;244;p18"/>
          <p:cNvSpPr txBox="1"/>
          <p:nvPr/>
        </p:nvSpPr>
        <p:spPr>
          <a:xfrm>
            <a:off x="1438275" y="5915150"/>
            <a:ext cx="5042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Identificar mejoras para el siguiente ciclo.</a:t>
            </a:r>
            <a:endParaRPr sz="105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5" name="Google Shape;245;p18"/>
          <p:cNvSpPr/>
          <p:nvPr/>
        </p:nvSpPr>
        <p:spPr>
          <a:xfrm>
            <a:off x="875500" y="5728075"/>
            <a:ext cx="411300" cy="312900"/>
          </a:xfrm>
          <a:prstGeom prst="flowChartConnector">
            <a:avLst/>
          </a:prstGeom>
          <a:solidFill>
            <a:srgbClr val="1D4ED8"/>
          </a:solidFill>
          <a:ln cap="flat" cmpd="sng" w="9525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endParaRPr b="1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0" name="Google Shape;25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2138362"/>
            <a:ext cx="10858500" cy="3781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6275" y="2147887"/>
            <a:ext cx="10839451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275" y="2709862"/>
            <a:ext cx="10839451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24275" y="2462212"/>
            <a:ext cx="7791449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724275" y="2767012"/>
            <a:ext cx="129852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89859" y="3224212"/>
            <a:ext cx="1298674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455592" y="3681412"/>
            <a:ext cx="1298674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321325" y="4138612"/>
            <a:ext cx="2164258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187058" y="4595812"/>
            <a:ext cx="2164258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1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351317" y="5053012"/>
            <a:ext cx="1298674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1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649991" y="5510212"/>
            <a:ext cx="865584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9"/>
          <p:cNvSpPr txBox="1"/>
          <p:nvPr/>
        </p:nvSpPr>
        <p:spPr>
          <a:xfrm>
            <a:off x="666750" y="476250"/>
            <a:ext cx="10858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9E0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DESARROLLO A 18 SEMANAS</a:t>
            </a:r>
            <a:endParaRPr/>
          </a:p>
        </p:txBody>
      </p:sp>
      <p:sp>
        <p:nvSpPr>
          <p:cNvPr id="263" name="Google Shape;263;p19"/>
          <p:cNvSpPr txBox="1"/>
          <p:nvPr/>
        </p:nvSpPr>
        <p:spPr>
          <a:xfrm>
            <a:off x="666750" y="762000"/>
            <a:ext cx="1140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Plan de Trabajo · Carta Gantt</a:t>
            </a:r>
            <a:endParaRPr/>
          </a:p>
        </p:txBody>
      </p:sp>
      <p:sp>
        <p:nvSpPr>
          <p:cNvPr id="264" name="Google Shape;264;p19"/>
          <p:cNvSpPr/>
          <p:nvPr/>
        </p:nvSpPr>
        <p:spPr>
          <a:xfrm>
            <a:off x="666750" y="1371600"/>
            <a:ext cx="108585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9"/>
          <p:cNvSpPr txBox="1"/>
          <p:nvPr/>
        </p:nvSpPr>
        <p:spPr>
          <a:xfrm>
            <a:off x="866775" y="2290762"/>
            <a:ext cx="2667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Actividad</a:t>
            </a:r>
            <a:endParaRPr/>
          </a:p>
        </p:txBody>
      </p:sp>
      <p:sp>
        <p:nvSpPr>
          <p:cNvPr id="266" name="Google Shape;266;p19"/>
          <p:cNvSpPr/>
          <p:nvPr/>
        </p:nvSpPr>
        <p:spPr>
          <a:xfrm>
            <a:off x="3714750" y="2147887"/>
            <a:ext cx="9600" cy="56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9"/>
          <p:cNvSpPr txBox="1"/>
          <p:nvPr/>
        </p:nvSpPr>
        <p:spPr>
          <a:xfrm>
            <a:off x="866775" y="2805113"/>
            <a:ext cx="2667000" cy="27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1. Levantamiento de requisitos y alcance</a:t>
            </a:r>
            <a:endParaRPr b="0" sz="900">
              <a:solidFill>
                <a:srgbClr val="0F172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Resp:</a:t>
            </a:r>
            <a:r>
              <a:rPr b="0" lang="en-US" sz="7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M. Gutiérrez (PO) • </a:t>
            </a:r>
            <a:r>
              <a:rPr b="1" lang="en-US" sz="750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Entregable:</a:t>
            </a:r>
            <a:r>
              <a:rPr b="0" lang="en-US" sz="7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Req. y Alcance</a:t>
            </a:r>
            <a:endParaRPr b="0" sz="75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8" name="Google Shape;268;p19"/>
          <p:cNvSpPr/>
          <p:nvPr/>
        </p:nvSpPr>
        <p:spPr>
          <a:xfrm>
            <a:off x="3714750" y="2709862"/>
            <a:ext cx="9600" cy="447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9"/>
          <p:cNvSpPr txBox="1"/>
          <p:nvPr/>
        </p:nvSpPr>
        <p:spPr>
          <a:xfrm>
            <a:off x="866775" y="3262313"/>
            <a:ext cx="2667000" cy="27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2. Diseño UX/UI y prototipado</a:t>
            </a:r>
            <a:endParaRPr b="0" sz="900">
              <a:solidFill>
                <a:srgbClr val="0F172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Resp:</a:t>
            </a:r>
            <a:r>
              <a:rPr b="0" lang="en-US" sz="7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M. Gutiérrez / Dev Team • </a:t>
            </a:r>
            <a:r>
              <a:rPr b="1" lang="en-US" sz="750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Entregable:</a:t>
            </a:r>
            <a:r>
              <a:rPr b="0" lang="en-US" sz="7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Prototipo UX</a:t>
            </a:r>
            <a:endParaRPr b="0" sz="75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0" name="Google Shape;270;p19"/>
          <p:cNvSpPr/>
          <p:nvPr/>
        </p:nvSpPr>
        <p:spPr>
          <a:xfrm>
            <a:off x="3714750" y="3167062"/>
            <a:ext cx="9600" cy="447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9"/>
          <p:cNvSpPr txBox="1"/>
          <p:nvPr/>
        </p:nvSpPr>
        <p:spPr>
          <a:xfrm>
            <a:off x="866775" y="3719513"/>
            <a:ext cx="2667000" cy="27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3. Arquitectura y base de datos</a:t>
            </a:r>
            <a:endParaRPr b="0" sz="900">
              <a:solidFill>
                <a:srgbClr val="0F172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Resp:</a:t>
            </a:r>
            <a:r>
              <a:rPr b="0" lang="en-US" sz="7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D. Rodríguez + Eq. • </a:t>
            </a:r>
            <a:r>
              <a:rPr b="1" lang="en-US" sz="750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Entregable:</a:t>
            </a:r>
            <a:r>
              <a:rPr b="0" lang="en-US" sz="7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Modelo Datos</a:t>
            </a:r>
            <a:endParaRPr b="0" sz="75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2" name="Google Shape;272;p19"/>
          <p:cNvSpPr/>
          <p:nvPr/>
        </p:nvSpPr>
        <p:spPr>
          <a:xfrm>
            <a:off x="3714750" y="3624262"/>
            <a:ext cx="9600" cy="447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9"/>
          <p:cNvSpPr txBox="1"/>
          <p:nvPr/>
        </p:nvSpPr>
        <p:spPr>
          <a:xfrm>
            <a:off x="866775" y="4176713"/>
            <a:ext cx="2667000" cy="27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4. Desarrollo frontend móvil</a:t>
            </a:r>
            <a:endParaRPr b="0" sz="900">
              <a:solidFill>
                <a:srgbClr val="0F172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Resp:</a:t>
            </a:r>
            <a:r>
              <a:rPr b="0" lang="en-US" sz="7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D. Rodríguez + Eq. • </a:t>
            </a:r>
            <a:r>
              <a:rPr b="1" lang="en-US" sz="750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Entregable:</a:t>
            </a:r>
            <a:r>
              <a:rPr b="0" lang="en-US" sz="7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MVP Frontend</a:t>
            </a:r>
            <a:endParaRPr b="0" sz="75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4" name="Google Shape;274;p19"/>
          <p:cNvSpPr/>
          <p:nvPr/>
        </p:nvSpPr>
        <p:spPr>
          <a:xfrm>
            <a:off x="3714750" y="4081462"/>
            <a:ext cx="9600" cy="447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9"/>
          <p:cNvSpPr txBox="1"/>
          <p:nvPr/>
        </p:nvSpPr>
        <p:spPr>
          <a:xfrm>
            <a:off x="866775" y="4633913"/>
            <a:ext cx="2667000" cy="27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5. Backend + servicios / IA</a:t>
            </a:r>
            <a:endParaRPr b="0" sz="900">
              <a:solidFill>
                <a:srgbClr val="0F172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Resp:</a:t>
            </a:r>
            <a:r>
              <a:rPr b="0" lang="en-US" sz="7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D. Rodríguez + Eq. • </a:t>
            </a:r>
            <a:r>
              <a:rPr b="1" lang="en-US" sz="750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Entregable:</a:t>
            </a:r>
            <a:r>
              <a:rPr b="0" lang="en-US" sz="7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APIs &amp; IA</a:t>
            </a:r>
            <a:endParaRPr b="0" sz="75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6" name="Google Shape;276;p19"/>
          <p:cNvSpPr/>
          <p:nvPr/>
        </p:nvSpPr>
        <p:spPr>
          <a:xfrm>
            <a:off x="3714750" y="4538662"/>
            <a:ext cx="9600" cy="447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9"/>
          <p:cNvSpPr txBox="1"/>
          <p:nvPr/>
        </p:nvSpPr>
        <p:spPr>
          <a:xfrm>
            <a:off x="866775" y="5091113"/>
            <a:ext cx="2667000" cy="27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6. Pruebas funcionales y usabilidad</a:t>
            </a:r>
            <a:endParaRPr b="0" sz="900">
              <a:solidFill>
                <a:srgbClr val="0F172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Resp:</a:t>
            </a:r>
            <a:r>
              <a:rPr b="0" lang="en-US" sz="7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M. Venegas / Eq. • </a:t>
            </a:r>
            <a:r>
              <a:rPr b="1" lang="en-US" sz="750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Entregable:</a:t>
            </a:r>
            <a:r>
              <a:rPr b="0" lang="en-US" sz="7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Informe QA</a:t>
            </a:r>
            <a:endParaRPr b="0" sz="75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8" name="Google Shape;278;p19"/>
          <p:cNvSpPr/>
          <p:nvPr/>
        </p:nvSpPr>
        <p:spPr>
          <a:xfrm>
            <a:off x="3714750" y="4995862"/>
            <a:ext cx="9600" cy="447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9"/>
          <p:cNvSpPr txBox="1"/>
          <p:nvPr/>
        </p:nvSpPr>
        <p:spPr>
          <a:xfrm>
            <a:off x="866775" y="5548313"/>
            <a:ext cx="2667000" cy="27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7. Cierre, despliegue y manuales</a:t>
            </a:r>
            <a:endParaRPr b="0" sz="900">
              <a:solidFill>
                <a:srgbClr val="0F172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Resp:</a:t>
            </a:r>
            <a:r>
              <a:rPr b="0" lang="en-US" sz="7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D. Rodríguez + Eq. • </a:t>
            </a:r>
            <a:r>
              <a:rPr b="1" lang="en-US" sz="750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Entregable:</a:t>
            </a:r>
            <a:r>
              <a:rPr b="0" lang="en-US" sz="7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Manuales &amp; Cierre</a:t>
            </a:r>
            <a:endParaRPr b="0" sz="75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0" name="Google Shape;280;p19"/>
          <p:cNvSpPr/>
          <p:nvPr/>
        </p:nvSpPr>
        <p:spPr>
          <a:xfrm>
            <a:off x="3714750" y="5453062"/>
            <a:ext cx="9600" cy="45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9"/>
          <p:cNvSpPr/>
          <p:nvPr/>
        </p:nvSpPr>
        <p:spPr>
          <a:xfrm>
            <a:off x="3724275" y="2147887"/>
            <a:ext cx="1731300" cy="304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9"/>
          <p:cNvSpPr txBox="1"/>
          <p:nvPr/>
        </p:nvSpPr>
        <p:spPr>
          <a:xfrm>
            <a:off x="3724275" y="2224087"/>
            <a:ext cx="17313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FASE 1</a:t>
            </a:r>
            <a:endParaRPr/>
          </a:p>
        </p:txBody>
      </p:sp>
      <p:sp>
        <p:nvSpPr>
          <p:cNvPr id="283" name="Google Shape;283;p19"/>
          <p:cNvSpPr/>
          <p:nvPr/>
        </p:nvSpPr>
        <p:spPr>
          <a:xfrm>
            <a:off x="5455592" y="2147887"/>
            <a:ext cx="5194500" cy="3048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9"/>
          <p:cNvSpPr/>
          <p:nvPr/>
        </p:nvSpPr>
        <p:spPr>
          <a:xfrm>
            <a:off x="5446067" y="2147887"/>
            <a:ext cx="96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9"/>
          <p:cNvSpPr txBox="1"/>
          <p:nvPr/>
        </p:nvSpPr>
        <p:spPr>
          <a:xfrm>
            <a:off x="5455592" y="2224087"/>
            <a:ext cx="51945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FASE 2</a:t>
            </a:r>
            <a:endParaRPr/>
          </a:p>
        </p:txBody>
      </p:sp>
      <p:sp>
        <p:nvSpPr>
          <p:cNvPr id="286" name="Google Shape;286;p19"/>
          <p:cNvSpPr/>
          <p:nvPr/>
        </p:nvSpPr>
        <p:spPr>
          <a:xfrm>
            <a:off x="10649991" y="2147887"/>
            <a:ext cx="865500" cy="304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9"/>
          <p:cNvSpPr/>
          <p:nvPr/>
        </p:nvSpPr>
        <p:spPr>
          <a:xfrm>
            <a:off x="10640466" y="2147887"/>
            <a:ext cx="96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9"/>
          <p:cNvSpPr txBox="1"/>
          <p:nvPr/>
        </p:nvSpPr>
        <p:spPr>
          <a:xfrm>
            <a:off x="10649991" y="2224087"/>
            <a:ext cx="8655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FASE 3</a:t>
            </a:r>
            <a:endParaRPr/>
          </a:p>
        </p:txBody>
      </p:sp>
      <p:sp>
        <p:nvSpPr>
          <p:cNvPr id="289" name="Google Shape;289;p19"/>
          <p:cNvSpPr/>
          <p:nvPr/>
        </p:nvSpPr>
        <p:spPr>
          <a:xfrm>
            <a:off x="11506051" y="2147887"/>
            <a:ext cx="96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9"/>
          <p:cNvSpPr txBox="1"/>
          <p:nvPr/>
        </p:nvSpPr>
        <p:spPr>
          <a:xfrm>
            <a:off x="3724275" y="2519362"/>
            <a:ext cx="4329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S1</a:t>
            </a:r>
            <a:endParaRPr/>
          </a:p>
        </p:txBody>
      </p:sp>
      <p:sp>
        <p:nvSpPr>
          <p:cNvPr id="291" name="Google Shape;291;p19"/>
          <p:cNvSpPr/>
          <p:nvPr/>
        </p:nvSpPr>
        <p:spPr>
          <a:xfrm>
            <a:off x="4147542" y="2462212"/>
            <a:ext cx="9600" cy="24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9"/>
          <p:cNvSpPr txBox="1"/>
          <p:nvPr/>
        </p:nvSpPr>
        <p:spPr>
          <a:xfrm>
            <a:off x="4157067" y="2519362"/>
            <a:ext cx="4329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S2</a:t>
            </a:r>
            <a:endParaRPr/>
          </a:p>
        </p:txBody>
      </p:sp>
      <p:sp>
        <p:nvSpPr>
          <p:cNvPr id="293" name="Google Shape;293;p19"/>
          <p:cNvSpPr/>
          <p:nvPr/>
        </p:nvSpPr>
        <p:spPr>
          <a:xfrm>
            <a:off x="4580334" y="2462212"/>
            <a:ext cx="9600" cy="24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9"/>
          <p:cNvSpPr txBox="1"/>
          <p:nvPr/>
        </p:nvSpPr>
        <p:spPr>
          <a:xfrm>
            <a:off x="4589859" y="2519362"/>
            <a:ext cx="4329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S3</a:t>
            </a:r>
            <a:endParaRPr/>
          </a:p>
        </p:txBody>
      </p:sp>
      <p:sp>
        <p:nvSpPr>
          <p:cNvPr id="295" name="Google Shape;295;p19"/>
          <p:cNvSpPr/>
          <p:nvPr/>
        </p:nvSpPr>
        <p:spPr>
          <a:xfrm>
            <a:off x="5013275" y="2462212"/>
            <a:ext cx="9600" cy="24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9"/>
          <p:cNvSpPr txBox="1"/>
          <p:nvPr/>
        </p:nvSpPr>
        <p:spPr>
          <a:xfrm>
            <a:off x="5022800" y="2519362"/>
            <a:ext cx="4329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S4</a:t>
            </a:r>
            <a:endParaRPr/>
          </a:p>
        </p:txBody>
      </p:sp>
      <p:sp>
        <p:nvSpPr>
          <p:cNvPr id="297" name="Google Shape;297;p19"/>
          <p:cNvSpPr/>
          <p:nvPr/>
        </p:nvSpPr>
        <p:spPr>
          <a:xfrm>
            <a:off x="5446067" y="2462212"/>
            <a:ext cx="9600" cy="24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9"/>
          <p:cNvSpPr txBox="1"/>
          <p:nvPr/>
        </p:nvSpPr>
        <p:spPr>
          <a:xfrm>
            <a:off x="5455592" y="2519362"/>
            <a:ext cx="4329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S5</a:t>
            </a:r>
            <a:endParaRPr/>
          </a:p>
        </p:txBody>
      </p:sp>
      <p:sp>
        <p:nvSpPr>
          <p:cNvPr id="299" name="Google Shape;299;p19"/>
          <p:cNvSpPr/>
          <p:nvPr/>
        </p:nvSpPr>
        <p:spPr>
          <a:xfrm>
            <a:off x="5879008" y="2462212"/>
            <a:ext cx="9600" cy="24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9"/>
          <p:cNvSpPr txBox="1"/>
          <p:nvPr/>
        </p:nvSpPr>
        <p:spPr>
          <a:xfrm>
            <a:off x="5888533" y="2519362"/>
            <a:ext cx="4329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S6</a:t>
            </a:r>
            <a:endParaRPr/>
          </a:p>
        </p:txBody>
      </p:sp>
      <p:sp>
        <p:nvSpPr>
          <p:cNvPr id="301" name="Google Shape;301;p19"/>
          <p:cNvSpPr/>
          <p:nvPr/>
        </p:nvSpPr>
        <p:spPr>
          <a:xfrm>
            <a:off x="6311800" y="2462212"/>
            <a:ext cx="9600" cy="24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9"/>
          <p:cNvSpPr txBox="1"/>
          <p:nvPr/>
        </p:nvSpPr>
        <p:spPr>
          <a:xfrm>
            <a:off x="6321325" y="2519362"/>
            <a:ext cx="4329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S7</a:t>
            </a:r>
            <a:endParaRPr/>
          </a:p>
        </p:txBody>
      </p:sp>
      <p:sp>
        <p:nvSpPr>
          <p:cNvPr id="303" name="Google Shape;303;p19"/>
          <p:cNvSpPr/>
          <p:nvPr/>
        </p:nvSpPr>
        <p:spPr>
          <a:xfrm>
            <a:off x="6744741" y="2462212"/>
            <a:ext cx="9600" cy="24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9"/>
          <p:cNvSpPr txBox="1"/>
          <p:nvPr/>
        </p:nvSpPr>
        <p:spPr>
          <a:xfrm>
            <a:off x="6754266" y="2519362"/>
            <a:ext cx="4329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S8</a:t>
            </a:r>
            <a:endParaRPr/>
          </a:p>
        </p:txBody>
      </p:sp>
      <p:sp>
        <p:nvSpPr>
          <p:cNvPr id="305" name="Google Shape;305;p19"/>
          <p:cNvSpPr/>
          <p:nvPr/>
        </p:nvSpPr>
        <p:spPr>
          <a:xfrm>
            <a:off x="7177533" y="2462212"/>
            <a:ext cx="9600" cy="24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9"/>
          <p:cNvSpPr txBox="1"/>
          <p:nvPr/>
        </p:nvSpPr>
        <p:spPr>
          <a:xfrm>
            <a:off x="7187058" y="2519362"/>
            <a:ext cx="4329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S9</a:t>
            </a:r>
            <a:endParaRPr/>
          </a:p>
        </p:txBody>
      </p:sp>
      <p:sp>
        <p:nvSpPr>
          <p:cNvPr id="307" name="Google Shape;307;p19"/>
          <p:cNvSpPr/>
          <p:nvPr/>
        </p:nvSpPr>
        <p:spPr>
          <a:xfrm>
            <a:off x="7610326" y="2462212"/>
            <a:ext cx="9600" cy="24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9"/>
          <p:cNvSpPr txBox="1"/>
          <p:nvPr/>
        </p:nvSpPr>
        <p:spPr>
          <a:xfrm>
            <a:off x="7619851" y="2519362"/>
            <a:ext cx="4329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S10</a:t>
            </a:r>
            <a:endParaRPr/>
          </a:p>
        </p:txBody>
      </p:sp>
      <p:sp>
        <p:nvSpPr>
          <p:cNvPr id="309" name="Google Shape;309;p19"/>
          <p:cNvSpPr/>
          <p:nvPr/>
        </p:nvSpPr>
        <p:spPr>
          <a:xfrm>
            <a:off x="8043267" y="2462212"/>
            <a:ext cx="9600" cy="24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9"/>
          <p:cNvSpPr txBox="1"/>
          <p:nvPr/>
        </p:nvSpPr>
        <p:spPr>
          <a:xfrm>
            <a:off x="8052792" y="2519362"/>
            <a:ext cx="4329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S11</a:t>
            </a:r>
            <a:endParaRPr/>
          </a:p>
        </p:txBody>
      </p:sp>
      <p:sp>
        <p:nvSpPr>
          <p:cNvPr id="311" name="Google Shape;311;p19"/>
          <p:cNvSpPr/>
          <p:nvPr/>
        </p:nvSpPr>
        <p:spPr>
          <a:xfrm>
            <a:off x="8476059" y="2462212"/>
            <a:ext cx="9600" cy="24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9"/>
          <p:cNvSpPr txBox="1"/>
          <p:nvPr/>
        </p:nvSpPr>
        <p:spPr>
          <a:xfrm>
            <a:off x="8485584" y="2519362"/>
            <a:ext cx="4329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S12</a:t>
            </a:r>
            <a:endParaRPr/>
          </a:p>
        </p:txBody>
      </p:sp>
      <p:sp>
        <p:nvSpPr>
          <p:cNvPr id="313" name="Google Shape;313;p19"/>
          <p:cNvSpPr/>
          <p:nvPr/>
        </p:nvSpPr>
        <p:spPr>
          <a:xfrm>
            <a:off x="8909000" y="2462212"/>
            <a:ext cx="9600" cy="24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9"/>
          <p:cNvSpPr txBox="1"/>
          <p:nvPr/>
        </p:nvSpPr>
        <p:spPr>
          <a:xfrm>
            <a:off x="8918525" y="2519362"/>
            <a:ext cx="4329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S13</a:t>
            </a:r>
            <a:endParaRPr/>
          </a:p>
        </p:txBody>
      </p:sp>
      <p:sp>
        <p:nvSpPr>
          <p:cNvPr id="315" name="Google Shape;315;p19"/>
          <p:cNvSpPr/>
          <p:nvPr/>
        </p:nvSpPr>
        <p:spPr>
          <a:xfrm>
            <a:off x="9341792" y="2462212"/>
            <a:ext cx="9600" cy="24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9"/>
          <p:cNvSpPr txBox="1"/>
          <p:nvPr/>
        </p:nvSpPr>
        <p:spPr>
          <a:xfrm>
            <a:off x="9351317" y="2519362"/>
            <a:ext cx="4329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S14</a:t>
            </a:r>
            <a:endParaRPr/>
          </a:p>
        </p:txBody>
      </p:sp>
      <p:sp>
        <p:nvSpPr>
          <p:cNvPr id="317" name="Google Shape;317;p19"/>
          <p:cNvSpPr/>
          <p:nvPr/>
        </p:nvSpPr>
        <p:spPr>
          <a:xfrm>
            <a:off x="9774733" y="2462212"/>
            <a:ext cx="9600" cy="24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9"/>
          <p:cNvSpPr txBox="1"/>
          <p:nvPr/>
        </p:nvSpPr>
        <p:spPr>
          <a:xfrm>
            <a:off x="9784258" y="2519362"/>
            <a:ext cx="4329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S15</a:t>
            </a:r>
            <a:endParaRPr/>
          </a:p>
        </p:txBody>
      </p:sp>
      <p:sp>
        <p:nvSpPr>
          <p:cNvPr id="319" name="Google Shape;319;p19"/>
          <p:cNvSpPr/>
          <p:nvPr/>
        </p:nvSpPr>
        <p:spPr>
          <a:xfrm>
            <a:off x="10207525" y="2462212"/>
            <a:ext cx="9600" cy="24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9"/>
          <p:cNvSpPr txBox="1"/>
          <p:nvPr/>
        </p:nvSpPr>
        <p:spPr>
          <a:xfrm>
            <a:off x="10217050" y="2519362"/>
            <a:ext cx="4329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S16</a:t>
            </a:r>
            <a:endParaRPr/>
          </a:p>
        </p:txBody>
      </p:sp>
      <p:sp>
        <p:nvSpPr>
          <p:cNvPr id="321" name="Google Shape;321;p19"/>
          <p:cNvSpPr/>
          <p:nvPr/>
        </p:nvSpPr>
        <p:spPr>
          <a:xfrm>
            <a:off x="10640466" y="2462212"/>
            <a:ext cx="9600" cy="24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9"/>
          <p:cNvSpPr txBox="1"/>
          <p:nvPr/>
        </p:nvSpPr>
        <p:spPr>
          <a:xfrm>
            <a:off x="10649991" y="2519362"/>
            <a:ext cx="4329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S17</a:t>
            </a:r>
            <a:endParaRPr/>
          </a:p>
        </p:txBody>
      </p:sp>
      <p:sp>
        <p:nvSpPr>
          <p:cNvPr id="323" name="Google Shape;323;p19"/>
          <p:cNvSpPr/>
          <p:nvPr/>
        </p:nvSpPr>
        <p:spPr>
          <a:xfrm>
            <a:off x="11073258" y="2462212"/>
            <a:ext cx="9600" cy="24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9"/>
          <p:cNvSpPr txBox="1"/>
          <p:nvPr/>
        </p:nvSpPr>
        <p:spPr>
          <a:xfrm>
            <a:off x="11082783" y="2519362"/>
            <a:ext cx="4329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S18</a:t>
            </a:r>
            <a:endParaRPr/>
          </a:p>
        </p:txBody>
      </p:sp>
      <p:sp>
        <p:nvSpPr>
          <p:cNvPr id="325" name="Google Shape;325;p19"/>
          <p:cNvSpPr/>
          <p:nvPr/>
        </p:nvSpPr>
        <p:spPr>
          <a:xfrm>
            <a:off x="11506051" y="2462212"/>
            <a:ext cx="9600" cy="24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0" name="Google Shape;33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1" name="Google Shape;33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1828948"/>
            <a:ext cx="10858500" cy="7657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2" name="Google Shape;33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2737544"/>
            <a:ext cx="10858500" cy="7657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3" name="Google Shape;33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6750" y="3646140"/>
            <a:ext cx="10858500" cy="7657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4" name="Google Shape;33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4554735"/>
            <a:ext cx="10858500" cy="7657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5" name="Google Shape;335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6750" y="5463331"/>
            <a:ext cx="10858500" cy="7657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6" name="Google Shape;336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2500" y="2097434"/>
            <a:ext cx="666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7" name="Google Shape;337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2500" y="3006030"/>
            <a:ext cx="666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8" name="Google Shape;338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52500" y="3914626"/>
            <a:ext cx="666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9" name="Google Shape;339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52500" y="4823221"/>
            <a:ext cx="666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0" name="Google Shape;340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52500" y="5731817"/>
            <a:ext cx="666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0"/>
          <p:cNvSpPr txBox="1"/>
          <p:nvPr/>
        </p:nvSpPr>
        <p:spPr>
          <a:xfrm>
            <a:off x="666750" y="476250"/>
            <a:ext cx="10858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9E0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ENTREGABLES DEL PROYECTO</a:t>
            </a:r>
            <a:endParaRPr/>
          </a:p>
        </p:txBody>
      </p:sp>
      <p:sp>
        <p:nvSpPr>
          <p:cNvPr id="342" name="Google Shape;342;p20"/>
          <p:cNvSpPr txBox="1"/>
          <p:nvPr/>
        </p:nvSpPr>
        <p:spPr>
          <a:xfrm>
            <a:off x="666750" y="7620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Evidencias Esperadas</a:t>
            </a:r>
            <a:endParaRPr/>
          </a:p>
        </p:txBody>
      </p:sp>
      <p:sp>
        <p:nvSpPr>
          <p:cNvPr id="343" name="Google Shape;343;p20"/>
          <p:cNvSpPr/>
          <p:nvPr/>
        </p:nvSpPr>
        <p:spPr>
          <a:xfrm>
            <a:off x="666750" y="1371600"/>
            <a:ext cx="10858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0"/>
          <p:cNvSpPr txBox="1"/>
          <p:nvPr/>
        </p:nvSpPr>
        <p:spPr>
          <a:xfrm>
            <a:off x="1809750" y="1981348"/>
            <a:ext cx="9941242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Documento de Requerimientos y Prototipo UX/UI</a:t>
            </a:r>
            <a:endParaRPr/>
          </a:p>
        </p:txBody>
      </p:sp>
      <p:sp>
        <p:nvSpPr>
          <p:cNvPr id="345" name="Google Shape;345;p20"/>
          <p:cNvSpPr txBox="1"/>
          <p:nvPr/>
        </p:nvSpPr>
        <p:spPr>
          <a:xfrm>
            <a:off x="1809750" y="2228998"/>
            <a:ext cx="94678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Historias de usuario priorizadas y prototipos navegables enfocados en accesibilidad visual.</a:t>
            </a:r>
            <a:endParaRPr/>
          </a:p>
        </p:txBody>
      </p:sp>
      <p:sp>
        <p:nvSpPr>
          <p:cNvPr id="346" name="Google Shape;346;p20"/>
          <p:cNvSpPr txBox="1"/>
          <p:nvPr/>
        </p:nvSpPr>
        <p:spPr>
          <a:xfrm>
            <a:off x="1809750" y="2889944"/>
            <a:ext cx="9941242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Especificación de Arquitectura y Modelo de Datos</a:t>
            </a:r>
            <a:endParaRPr/>
          </a:p>
        </p:txBody>
      </p:sp>
      <p:sp>
        <p:nvSpPr>
          <p:cNvPr id="347" name="Google Shape;347;p20"/>
          <p:cNvSpPr txBox="1"/>
          <p:nvPr/>
        </p:nvSpPr>
        <p:spPr>
          <a:xfrm>
            <a:off x="1809750" y="3137594"/>
            <a:ext cx="94678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Diagramas de sistema, modelo de base de datos y especificación de endpoints/APIs REST.</a:t>
            </a:r>
            <a:endParaRPr/>
          </a:p>
        </p:txBody>
      </p:sp>
      <p:sp>
        <p:nvSpPr>
          <p:cNvPr id="348" name="Google Shape;348;p20"/>
          <p:cNvSpPr txBox="1"/>
          <p:nvPr/>
        </p:nvSpPr>
        <p:spPr>
          <a:xfrm>
            <a:off x="1809750" y="3798540"/>
            <a:ext cx="9941242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Producto Mínimo Viable (MVP)</a:t>
            </a:r>
            <a:endParaRPr/>
          </a:p>
        </p:txBody>
      </p:sp>
      <p:sp>
        <p:nvSpPr>
          <p:cNvPr id="349" name="Google Shape;349;p20"/>
          <p:cNvSpPr txBox="1"/>
          <p:nvPr/>
        </p:nvSpPr>
        <p:spPr>
          <a:xfrm>
            <a:off x="1809750" y="4046190"/>
            <a:ext cx="94678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Código fuente en GitHub y ejecutable móvil (APK) plenamente operativo y funcional.</a:t>
            </a:r>
            <a:endParaRPr/>
          </a:p>
        </p:txBody>
      </p:sp>
      <p:sp>
        <p:nvSpPr>
          <p:cNvPr id="350" name="Google Shape;350;p20"/>
          <p:cNvSpPr txBox="1"/>
          <p:nvPr/>
        </p:nvSpPr>
        <p:spPr>
          <a:xfrm>
            <a:off x="1809750" y="4707135"/>
            <a:ext cx="9941242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Informe de Pruebas de Usabilidad y Calidad (QA)</a:t>
            </a:r>
            <a:endParaRPr/>
          </a:p>
        </p:txBody>
      </p:sp>
      <p:sp>
        <p:nvSpPr>
          <p:cNvPr id="351" name="Google Shape;351;p20"/>
          <p:cNvSpPr txBox="1"/>
          <p:nvPr/>
        </p:nvSpPr>
        <p:spPr>
          <a:xfrm>
            <a:off x="1809750" y="4954785"/>
            <a:ext cx="94678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Reporte de pruebas técnicas y test de usabilidad con usuarios del público objetivo.</a:t>
            </a:r>
            <a:endParaRPr/>
          </a:p>
        </p:txBody>
      </p:sp>
      <p:sp>
        <p:nvSpPr>
          <p:cNvPr id="352" name="Google Shape;352;p20"/>
          <p:cNvSpPr txBox="1"/>
          <p:nvPr/>
        </p:nvSpPr>
        <p:spPr>
          <a:xfrm>
            <a:off x="1809750" y="5615731"/>
            <a:ext cx="9941242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Manual Técnico y de Usuario Final</a:t>
            </a:r>
            <a:endParaRPr/>
          </a:p>
        </p:txBody>
      </p:sp>
      <p:sp>
        <p:nvSpPr>
          <p:cNvPr id="353" name="Google Shape;353;p20"/>
          <p:cNvSpPr txBox="1"/>
          <p:nvPr/>
        </p:nvSpPr>
        <p:spPr>
          <a:xfrm>
            <a:off x="1809750" y="5863381"/>
            <a:ext cx="94678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Guía de instalación/mantenimiento técnico y manual visual de uso de la aplicación.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8" name="Google Shape;35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38812" y="2236440"/>
            <a:ext cx="71437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21"/>
          <p:cNvSpPr txBox="1"/>
          <p:nvPr/>
        </p:nvSpPr>
        <p:spPr>
          <a:xfrm>
            <a:off x="2885598" y="2998440"/>
            <a:ext cx="6420802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¿Preguntas?</a:t>
            </a:r>
            <a:endParaRPr/>
          </a:p>
        </p:txBody>
      </p:sp>
      <p:sp>
        <p:nvSpPr>
          <p:cNvPr id="360" name="Google Shape;360;p21"/>
          <p:cNvSpPr txBox="1"/>
          <p:nvPr/>
        </p:nvSpPr>
        <p:spPr>
          <a:xfrm>
            <a:off x="3038475" y="4112865"/>
            <a:ext cx="61150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Gracias por su atención en la presentación del proyecto.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