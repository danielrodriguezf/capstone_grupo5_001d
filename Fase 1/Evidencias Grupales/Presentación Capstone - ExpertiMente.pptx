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9144000"/>
  <p:embeddedFontLst>
    <p:embeddedFont>
      <p:font typeface="Plus Jakarta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A22905-5857-42AA-AFDA-1E2C317805E5}">
  <a:tblStyle styleId="{C6A22905-5857-42AA-AFDA-1E2C317805E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lusJakartaSans-bold.fntdata"/><Relationship Id="rId16" Type="http://schemas.openxmlformats.org/officeDocument/2006/relationships/font" Target="fonts/PlusJakartaSans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PlusJakartaSans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lusJakartaSa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2.png"/><Relationship Id="rId7" Type="http://schemas.openxmlformats.org/officeDocument/2006/relationships/image" Target="../media/image6.png"/><Relationship Id="rId8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11" Type="http://schemas.openxmlformats.org/officeDocument/2006/relationships/image" Target="../media/image21.png"/><Relationship Id="rId10" Type="http://schemas.openxmlformats.org/officeDocument/2006/relationships/image" Target="../media/image22.png"/><Relationship Id="rId12" Type="http://schemas.openxmlformats.org/officeDocument/2006/relationships/image" Target="../media/image20.png"/><Relationship Id="rId9" Type="http://schemas.openxmlformats.org/officeDocument/2006/relationships/image" Target="../media/image19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23.png"/><Relationship Id="rId8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6705600" cy="6858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09600" y="5343525"/>
            <a:ext cx="5486400" cy="90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609600" y="609600"/>
            <a:ext cx="2181225" cy="276225"/>
          </a:xfrm>
          <a:prstGeom prst="roundRect">
            <a:avLst>
              <a:gd fmla="val 50000" name="adj"/>
            </a:avLst>
          </a:prstGeom>
          <a:solidFill>
            <a:srgbClr val="1A2D58"/>
          </a:solidFill>
          <a:ln cap="flat" cmpd="sng" w="95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609600" y="5343525"/>
            <a:ext cx="54864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5600" y="0"/>
            <a:ext cx="54864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5600" y="0"/>
            <a:ext cx="5486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609600" y="1114425"/>
            <a:ext cx="72009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00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ExpertiMente</a:t>
            </a:r>
            <a:endParaRPr sz="1600"/>
          </a:p>
        </p:txBody>
      </p:sp>
      <p:sp>
        <p:nvSpPr>
          <p:cNvPr id="91" name="Google Shape;91;p13"/>
          <p:cNvSpPr txBox="1"/>
          <p:nvPr/>
        </p:nvSpPr>
        <p:spPr>
          <a:xfrm>
            <a:off x="609600" y="1811527"/>
            <a:ext cx="4667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Aplicación móvil para acompañar la búsqueda y postulación laboral de personas con baja experiencia digital.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09600" y="5581650"/>
            <a:ext cx="6858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ELABORADO POR:</a:t>
            </a:r>
            <a:endParaRPr sz="1600"/>
          </a:p>
        </p:txBody>
      </p:sp>
      <p:sp>
        <p:nvSpPr>
          <p:cNvPr id="93" name="Google Shape;93;p13"/>
          <p:cNvSpPr txBox="1"/>
          <p:nvPr/>
        </p:nvSpPr>
        <p:spPr>
          <a:xfrm>
            <a:off x="609600" y="5800725"/>
            <a:ext cx="6858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Martina Gutiérrez · Daniel Rodríguez · Martina Venegas</a:t>
            </a:r>
            <a:endParaRPr sz="1700"/>
          </a:p>
        </p:txBody>
      </p:sp>
      <p:sp>
        <p:nvSpPr>
          <p:cNvPr id="94" name="Google Shape;94;p13"/>
          <p:cNvSpPr txBox="1"/>
          <p:nvPr/>
        </p:nvSpPr>
        <p:spPr>
          <a:xfrm>
            <a:off x="609600" y="6096000"/>
            <a:ext cx="68580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Ingeniería en Informática · Duoc UC · Sede Maipú</a:t>
            </a:r>
            <a:endParaRPr sz="1700"/>
          </a:p>
        </p:txBody>
      </p:sp>
      <p:sp>
        <p:nvSpPr>
          <p:cNvPr id="95" name="Google Shape;95;p13"/>
          <p:cNvSpPr txBox="1"/>
          <p:nvPr/>
        </p:nvSpPr>
        <p:spPr>
          <a:xfrm>
            <a:off x="771525" y="676275"/>
            <a:ext cx="232171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0A5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PROYECTO APT · CAPSTONE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/>
          <p:nvPr/>
        </p:nvSpPr>
        <p:spPr>
          <a:xfrm>
            <a:off x="609600" y="1474075"/>
            <a:ext cx="10972800" cy="2826900"/>
          </a:xfrm>
          <a:prstGeom prst="roundRect">
            <a:avLst>
              <a:gd fmla="val 8571" name="adj"/>
            </a:avLst>
          </a:prstGeom>
          <a:solidFill>
            <a:srgbClr val="F0F9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609600" y="2798053"/>
            <a:ext cx="10972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609600" y="1474078"/>
            <a:ext cx="10972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543000" y="1474075"/>
            <a:ext cx="114300" cy="28269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11572875" y="1474078"/>
            <a:ext cx="9600" cy="1333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609600" y="5116105"/>
            <a:ext cx="5391300" cy="1514400"/>
          </a:xfrm>
          <a:prstGeom prst="roundRect">
            <a:avLst>
              <a:gd fmla="val 754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6191250" y="5116105"/>
            <a:ext cx="5391300" cy="1514400"/>
          </a:xfrm>
          <a:prstGeom prst="roundRect">
            <a:avLst>
              <a:gd fmla="val 754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609600" y="6621055"/>
            <a:ext cx="5391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609600" y="5116105"/>
            <a:ext cx="53913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609600" y="5116105"/>
            <a:ext cx="9600" cy="15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5991225" y="5116105"/>
            <a:ext cx="9600" cy="15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6191250" y="6621055"/>
            <a:ext cx="5391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6191250" y="5116105"/>
            <a:ext cx="53913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6191250" y="5116105"/>
            <a:ext cx="9600" cy="15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5" name="Google Shape;11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538280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29375" y="538280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7725" y="5749518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7725" y="5997168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7725" y="6244818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9375" y="5749518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9375" y="5997168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9375" y="6244818"/>
            <a:ext cx="11430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4"/>
          <p:cNvSpPr txBox="1"/>
          <p:nvPr/>
        </p:nvSpPr>
        <p:spPr>
          <a:xfrm>
            <a:off x="609600" y="43815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VISIÓN GENERAL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609600" y="64770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DESCRIPCIÓN DEL PROYECTO APT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962025" y="1669975"/>
            <a:ext cx="3033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¿Qué es ExpertiMente?</a:t>
            </a:r>
            <a:endParaRPr sz="1600"/>
          </a:p>
        </p:txBody>
      </p:sp>
      <p:sp>
        <p:nvSpPr>
          <p:cNvPr id="126" name="Google Shape;126;p14"/>
          <p:cNvSpPr txBox="1"/>
          <p:nvPr/>
        </p:nvSpPr>
        <p:spPr>
          <a:xfrm>
            <a:off x="981162" y="2171400"/>
            <a:ext cx="10429800" cy="18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ExpertiMente es una solución tecnológica diseñada para facilitar la autonomía de personas adultas en procesos de búsqueda laboral digitales, disminuyendo progresivamente su dependencia tecnológica.</a:t>
            </a:r>
            <a:endParaRPr sz="1225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25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638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25"/>
              <a:buFont typeface="Plus Jakarta Sans"/>
              <a:buChar char="●"/>
            </a:pPr>
            <a:r>
              <a:rPr lang="en-US" sz="12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Acompañamiento Intuitivo: Proceso guiado paso a paso para la confección de CVs y postulaciones en línea, eliminando la necesidad de asistencia de terceros.</a:t>
            </a:r>
            <a:endParaRPr sz="1225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638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25"/>
              <a:buFont typeface="Plus Jakarta Sans"/>
              <a:buChar char="●"/>
            </a:pPr>
            <a:r>
              <a:rPr lang="en-US" sz="12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Diseño Inclusivo y Accesible: Interfaz simplificada con lenguaje claro y adaptada a niveles de alfabetización digital inicial o intermedio.</a:t>
            </a:r>
            <a:endParaRPr sz="1225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638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25"/>
              <a:buFont typeface="Plus Jakarta Sans"/>
              <a:buChar char="●"/>
            </a:pPr>
            <a:r>
              <a:rPr lang="en-US" sz="12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Valorización de la Trayectoria: Herramientas diseñadas para identificar y destacar la experiencia laboral y competencias del talento adulto.</a:t>
            </a:r>
            <a:endParaRPr sz="1225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638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25"/>
              <a:buFont typeface="Plus Jakarta Sans"/>
              <a:buChar char="●"/>
            </a:pPr>
            <a:r>
              <a:rPr lang="en-US" sz="12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Empoderamiento Digital: Fortalece la confianza del usuario en el entorno digital mientras realiza su búsqueda laboral de forma independiente.</a:t>
            </a:r>
            <a:endParaRPr sz="1225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609600" y="4744630"/>
            <a:ext cx="11582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Valor Agregado (Integración de IA)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1133475" y="5397093"/>
            <a:ext cx="240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Experiencia Simplificada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847725" y="5725705"/>
            <a:ext cx="6143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Creación intuitiva: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Perfiles adaptados y navegación accesible.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847725" y="5973355"/>
            <a:ext cx="6143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Lenguaje claro: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Traducción de requisitos técnicos complejos.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847725" y="6221005"/>
            <a:ext cx="6143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Acompañamiento: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Orientación guiada durante todo el proceso.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6829425" y="5397093"/>
            <a:ext cx="2087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Asistencia Inteligente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6429375" y="5725705"/>
            <a:ext cx="5762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Comprensión de ofertas: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Resúmenes automatizados de vacantes.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6429375" y="5973355"/>
            <a:ext cx="5762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Análisis de compatibilidad: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Calce entre usuario y el cargo.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6429375" y="6221005"/>
            <a:ext cx="5762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Preparación de respuestas: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Apoyo basado en antecedentes reales.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609600" y="2806900"/>
            <a:ext cx="3505200" cy="2723400"/>
          </a:xfrm>
          <a:prstGeom prst="roundRect">
            <a:avLst>
              <a:gd fmla="val 476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4343400" y="2806900"/>
            <a:ext cx="3505200" cy="2723400"/>
          </a:xfrm>
          <a:prstGeom prst="roundRect">
            <a:avLst>
              <a:gd fmla="val 476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8077200" y="2806900"/>
            <a:ext cx="3505200" cy="2723400"/>
          </a:xfrm>
          <a:prstGeom prst="roundRect">
            <a:avLst>
              <a:gd fmla="val 476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609600" y="5197673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609600" y="2806898"/>
            <a:ext cx="3505200" cy="476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609600" y="2806898"/>
            <a:ext cx="9525" cy="24003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4105275" y="2806898"/>
            <a:ext cx="9525" cy="24003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4343400" y="5197673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4343400" y="2806898"/>
            <a:ext cx="3505200" cy="476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4343400" y="2806898"/>
            <a:ext cx="9525" cy="24003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7839075" y="2806898"/>
            <a:ext cx="9525" cy="24003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8077200" y="5197673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/>
          <p:nvPr/>
        </p:nvSpPr>
        <p:spPr>
          <a:xfrm>
            <a:off x="8077200" y="2806898"/>
            <a:ext cx="3505200" cy="4762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8077200" y="2806898"/>
            <a:ext cx="9525" cy="24003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11572875" y="2806898"/>
            <a:ext cx="9525" cy="24003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6" name="Google Shape;15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3159323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1200" y="3159323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0" y="3159323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28850" y="3330773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29312" y="3330773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96450" y="333077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5"/>
          <p:cNvSpPr txBox="1"/>
          <p:nvPr/>
        </p:nvSpPr>
        <p:spPr>
          <a:xfrm>
            <a:off x="609600" y="43815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COMPETENCIAS PROFESIONALES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609600" y="64770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ÁREAS DE DESEMPEÑO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609600" y="1070520"/>
            <a:ext cx="1158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Relación con el Perfil de Egreso: Integración de conocimientos informáticos aplicados a una problemática social real.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374351" y="3818098"/>
            <a:ext cx="3975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Desarrollo &amp; UX</a:t>
            </a:r>
            <a:endParaRPr b="1" sz="1700"/>
          </a:p>
        </p:txBody>
      </p:sp>
      <p:sp>
        <p:nvSpPr>
          <p:cNvPr id="166" name="Google Shape;166;p15"/>
          <p:cNvSpPr txBox="1"/>
          <p:nvPr/>
        </p:nvSpPr>
        <p:spPr>
          <a:xfrm>
            <a:off x="1057400" y="4292800"/>
            <a:ext cx="2609700" cy="9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Desarrollo de aplicaciones móviles e interfaces accesibles centradas en las necesidades reales de los usuarios finales.</a:t>
            </a:r>
            <a:endParaRPr sz="1500"/>
          </a:p>
        </p:txBody>
      </p:sp>
      <p:sp>
        <p:nvSpPr>
          <p:cNvPr id="167" name="Google Shape;167;p15"/>
          <p:cNvSpPr txBox="1"/>
          <p:nvPr/>
        </p:nvSpPr>
        <p:spPr>
          <a:xfrm>
            <a:off x="4108151" y="3818098"/>
            <a:ext cx="3975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Arquitectura &amp; APIs</a:t>
            </a:r>
            <a:endParaRPr b="1" sz="1700"/>
          </a:p>
        </p:txBody>
      </p:sp>
      <p:sp>
        <p:nvSpPr>
          <p:cNvPr id="168" name="Google Shape;168;p15"/>
          <p:cNvSpPr txBox="1"/>
          <p:nvPr/>
        </p:nvSpPr>
        <p:spPr>
          <a:xfrm>
            <a:off x="4861150" y="4292800"/>
            <a:ext cx="2469600" cy="9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Diseño de arquitectura de software escalable, modelamiento de bases de datos e integración de servicios externos vía APIs REST.</a:t>
            </a:r>
            <a:endParaRPr sz="1500"/>
          </a:p>
        </p:txBody>
      </p:sp>
      <p:sp>
        <p:nvSpPr>
          <p:cNvPr id="169" name="Google Shape;169;p15"/>
          <p:cNvSpPr txBox="1"/>
          <p:nvPr/>
        </p:nvSpPr>
        <p:spPr>
          <a:xfrm>
            <a:off x="7841951" y="3818098"/>
            <a:ext cx="3975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Análisis &amp; Calidad (QA)</a:t>
            </a:r>
            <a:endParaRPr b="1" sz="1700"/>
          </a:p>
        </p:txBody>
      </p:sp>
      <p:sp>
        <p:nvSpPr>
          <p:cNvPr id="170" name="Google Shape;170;p15"/>
          <p:cNvSpPr txBox="1"/>
          <p:nvPr/>
        </p:nvSpPr>
        <p:spPr>
          <a:xfrm>
            <a:off x="8508300" y="4292825"/>
            <a:ext cx="2643000" cy="9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Levantamiento sistemático de requerimientos y ejecución de pruebas de calidad y usabilidad de software.</a:t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609600" y="2578298"/>
            <a:ext cx="5372100" cy="2857500"/>
          </a:xfrm>
          <a:prstGeom prst="roundRect">
            <a:avLst>
              <a:gd fmla="val 4000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6210300" y="2578298"/>
            <a:ext cx="5372100" cy="2857500"/>
          </a:xfrm>
          <a:prstGeom prst="roundRect">
            <a:avLst>
              <a:gd fmla="val 4000" name="adj"/>
            </a:avLst>
          </a:prstGeom>
          <a:solidFill>
            <a:srgbClr val="FFFB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609600" y="5426273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609600" y="2578298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609600" y="2578298"/>
            <a:ext cx="47625" cy="28575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5972175" y="2578298"/>
            <a:ext cx="9525" cy="2857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6210300" y="5426273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6210300" y="2578298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6210300" y="2578298"/>
            <a:ext cx="47625" cy="2857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6"/>
          <p:cNvSpPr/>
          <p:nvPr/>
        </p:nvSpPr>
        <p:spPr>
          <a:xfrm>
            <a:off x="11572875" y="2578298"/>
            <a:ext cx="9525" cy="2857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6" name="Google Shape;18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282118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86525" y="282118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6"/>
          <p:cNvSpPr txBox="1"/>
          <p:nvPr/>
        </p:nvSpPr>
        <p:spPr>
          <a:xfrm>
            <a:off x="609600" y="43815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EVALUACIÓN TÉCNICA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609600" y="64770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VIABILIDAD DE EJECUCIÓN</a:t>
            </a:r>
            <a:endParaRPr/>
          </a:p>
        </p:txBody>
      </p:sp>
      <p:sp>
        <p:nvSpPr>
          <p:cNvPr id="190" name="Google Shape;190;p16"/>
          <p:cNvSpPr txBox="1"/>
          <p:nvPr/>
        </p:nvSpPr>
        <p:spPr>
          <a:xfrm>
            <a:off x="609600" y="1070520"/>
            <a:ext cx="1158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Factibilidad y Control de Riesgos del Proyecto Capstone</a:t>
            </a:r>
            <a:endParaRPr/>
          </a:p>
        </p:txBody>
      </p:sp>
      <p:sp>
        <p:nvSpPr>
          <p:cNvPr id="191" name="Google Shape;191;p16"/>
          <p:cNvSpPr txBox="1"/>
          <p:nvPr/>
        </p:nvSpPr>
        <p:spPr>
          <a:xfrm>
            <a:off x="1228725" y="2816423"/>
            <a:ext cx="201275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Factores a Favor</a:t>
            </a:r>
            <a:endParaRPr/>
          </a:p>
        </p:txBody>
      </p:sp>
      <p:sp>
        <p:nvSpPr>
          <p:cNvPr id="192" name="Google Shape;192;p16"/>
          <p:cNvSpPr txBox="1"/>
          <p:nvPr/>
        </p:nvSpPr>
        <p:spPr>
          <a:xfrm>
            <a:off x="6829425" y="2816423"/>
            <a:ext cx="265033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78350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Mitigación de Riesgos</a:t>
            </a:r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885825" y="3206948"/>
            <a:ext cx="607218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Tiempo Acotado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885825" y="3426023"/>
            <a:ext cx="607218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Planificación adaptada a ~180 horas (~19 semanas).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885825" y="3749873"/>
            <a:ext cx="607218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Alcance Controlado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885825" y="3968948"/>
            <a:ext cx="607218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Desarrollo basado estrictamente en un Producto Mínimo Viable (MVP).</a:t>
            </a:r>
            <a:endParaRPr/>
          </a:p>
        </p:txBody>
      </p:sp>
      <p:sp>
        <p:nvSpPr>
          <p:cNvPr id="197" name="Google Shape;197;p16"/>
          <p:cNvSpPr txBox="1"/>
          <p:nvPr/>
        </p:nvSpPr>
        <p:spPr>
          <a:xfrm>
            <a:off x="885825" y="4292798"/>
            <a:ext cx="607218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Stack Tecnológico Conocido</a:t>
            </a:r>
            <a:endParaRPr/>
          </a:p>
        </p:txBody>
      </p:sp>
      <p:sp>
        <p:nvSpPr>
          <p:cNvPr id="198" name="Google Shape;198;p16"/>
          <p:cNvSpPr txBox="1"/>
          <p:nvPr/>
        </p:nvSpPr>
        <p:spPr>
          <a:xfrm>
            <a:off x="885825" y="4511873"/>
            <a:ext cx="4953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Uso de herramientas dominadas por el equipo (Angular, Node.js, SQL, GitHub, Android Studio).</a:t>
            </a:r>
            <a:endParaRPr/>
          </a:p>
        </p:txBody>
      </p:sp>
      <p:sp>
        <p:nvSpPr>
          <p:cNvPr id="199" name="Google Shape;199;p16"/>
          <p:cNvSpPr txBox="1"/>
          <p:nvPr/>
        </p:nvSpPr>
        <p:spPr>
          <a:xfrm>
            <a:off x="6486525" y="3206948"/>
            <a:ext cx="57054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B4530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Gestión de Datos</a:t>
            </a:r>
            <a:endParaRPr/>
          </a:p>
        </p:txBody>
      </p:sp>
      <p:sp>
        <p:nvSpPr>
          <p:cNvPr id="200" name="Google Shape;200;p16"/>
          <p:cNvSpPr txBox="1"/>
          <p:nvPr/>
        </p:nvSpPr>
        <p:spPr>
          <a:xfrm>
            <a:off x="6486525" y="3426023"/>
            <a:ext cx="4953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Uso inicial de datos controlados para no depender de plataformas externas inestables.</a:t>
            </a:r>
            <a:endParaRPr/>
          </a:p>
        </p:txBody>
      </p:sp>
      <p:sp>
        <p:nvSpPr>
          <p:cNvPr id="201" name="Google Shape;201;p16"/>
          <p:cNvSpPr txBox="1"/>
          <p:nvPr/>
        </p:nvSpPr>
        <p:spPr>
          <a:xfrm>
            <a:off x="6486525" y="3921323"/>
            <a:ext cx="57054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B4530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Pruebas de Usuario</a:t>
            </a:r>
            <a:endParaRPr/>
          </a:p>
        </p:txBody>
      </p:sp>
      <p:sp>
        <p:nvSpPr>
          <p:cNvPr id="202" name="Google Shape;202;p16"/>
          <p:cNvSpPr txBox="1"/>
          <p:nvPr/>
        </p:nvSpPr>
        <p:spPr>
          <a:xfrm>
            <a:off x="6486525" y="4140398"/>
            <a:ext cx="4953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Coordinación anticipada con personas del segmento objetivo para asegurar disponibilidad.</a:t>
            </a:r>
            <a:endParaRPr/>
          </a:p>
        </p:txBody>
      </p:sp>
      <p:sp>
        <p:nvSpPr>
          <p:cNvPr id="203" name="Google Shape;203;p16"/>
          <p:cNvSpPr txBox="1"/>
          <p:nvPr/>
        </p:nvSpPr>
        <p:spPr>
          <a:xfrm>
            <a:off x="6486525" y="4635698"/>
            <a:ext cx="57054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B4530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IA y Automatización</a:t>
            </a:r>
            <a:endParaRPr/>
          </a:p>
        </p:txBody>
      </p:sp>
      <p:sp>
        <p:nvSpPr>
          <p:cNvPr id="204" name="Google Shape;204;p16"/>
          <p:cNvSpPr txBox="1"/>
          <p:nvPr/>
        </p:nvSpPr>
        <p:spPr>
          <a:xfrm>
            <a:off x="6486525" y="4854773"/>
            <a:ext cx="4953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Desarrollo por capas, asegurando primero el funcionamiento del núcleo (core) antes de sumar complejidad.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7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7"/>
          <p:cNvSpPr/>
          <p:nvPr/>
        </p:nvSpPr>
        <p:spPr>
          <a:xfrm>
            <a:off x="609600" y="2522190"/>
            <a:ext cx="10972800" cy="1007566"/>
          </a:xfrm>
          <a:prstGeom prst="roundRect">
            <a:avLst>
              <a:gd fmla="val 11344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7"/>
          <p:cNvSpPr/>
          <p:nvPr/>
        </p:nvSpPr>
        <p:spPr>
          <a:xfrm>
            <a:off x="609600" y="4006006"/>
            <a:ext cx="3581400" cy="685800"/>
          </a:xfrm>
          <a:prstGeom prst="roundRect">
            <a:avLst>
              <a:gd fmla="val 1666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7"/>
          <p:cNvSpPr/>
          <p:nvPr/>
        </p:nvSpPr>
        <p:spPr>
          <a:xfrm>
            <a:off x="4305300" y="4006006"/>
            <a:ext cx="3581400" cy="685800"/>
          </a:xfrm>
          <a:prstGeom prst="roundRect">
            <a:avLst>
              <a:gd fmla="val 1666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7"/>
          <p:cNvSpPr/>
          <p:nvPr/>
        </p:nvSpPr>
        <p:spPr>
          <a:xfrm>
            <a:off x="8001000" y="4006006"/>
            <a:ext cx="3581400" cy="685800"/>
          </a:xfrm>
          <a:prstGeom prst="roundRect">
            <a:avLst>
              <a:gd fmla="val 1666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7"/>
          <p:cNvSpPr/>
          <p:nvPr/>
        </p:nvSpPr>
        <p:spPr>
          <a:xfrm>
            <a:off x="609600" y="4806106"/>
            <a:ext cx="3581400" cy="685800"/>
          </a:xfrm>
          <a:prstGeom prst="roundRect">
            <a:avLst>
              <a:gd fmla="val 1666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7"/>
          <p:cNvSpPr/>
          <p:nvPr/>
        </p:nvSpPr>
        <p:spPr>
          <a:xfrm>
            <a:off x="4305300" y="4806106"/>
            <a:ext cx="3581400" cy="685800"/>
          </a:xfrm>
          <a:prstGeom prst="roundRect">
            <a:avLst>
              <a:gd fmla="val 1666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7"/>
          <p:cNvSpPr/>
          <p:nvPr/>
        </p:nvSpPr>
        <p:spPr>
          <a:xfrm>
            <a:off x="8001000" y="4806106"/>
            <a:ext cx="3581400" cy="685800"/>
          </a:xfrm>
          <a:prstGeom prst="roundRect">
            <a:avLst>
              <a:gd fmla="val 1666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7"/>
          <p:cNvSpPr/>
          <p:nvPr/>
        </p:nvSpPr>
        <p:spPr>
          <a:xfrm>
            <a:off x="771525" y="4148881"/>
            <a:ext cx="209550" cy="20955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7"/>
          <p:cNvSpPr/>
          <p:nvPr/>
        </p:nvSpPr>
        <p:spPr>
          <a:xfrm>
            <a:off x="4467225" y="4148881"/>
            <a:ext cx="209550" cy="20955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7"/>
          <p:cNvSpPr/>
          <p:nvPr/>
        </p:nvSpPr>
        <p:spPr>
          <a:xfrm>
            <a:off x="8162925" y="4148881"/>
            <a:ext cx="209550" cy="20955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7"/>
          <p:cNvSpPr/>
          <p:nvPr/>
        </p:nvSpPr>
        <p:spPr>
          <a:xfrm>
            <a:off x="771525" y="4948981"/>
            <a:ext cx="209550" cy="20955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7"/>
          <p:cNvSpPr/>
          <p:nvPr/>
        </p:nvSpPr>
        <p:spPr>
          <a:xfrm>
            <a:off x="4467225" y="4948981"/>
            <a:ext cx="209550" cy="20955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8162925" y="4948981"/>
            <a:ext cx="209550" cy="20955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7"/>
          <p:cNvSpPr txBox="1"/>
          <p:nvPr/>
        </p:nvSpPr>
        <p:spPr>
          <a:xfrm>
            <a:off x="609600" y="43815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PLANIFICACIÓN</a:t>
            </a:r>
            <a:endParaRPr/>
          </a:p>
        </p:txBody>
      </p:sp>
      <p:sp>
        <p:nvSpPr>
          <p:cNvPr id="224" name="Google Shape;224;p17"/>
          <p:cNvSpPr txBox="1"/>
          <p:nvPr/>
        </p:nvSpPr>
        <p:spPr>
          <a:xfrm>
            <a:off x="609600" y="64770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ESTRATEGIA Y DESGLOSE</a:t>
            </a:r>
            <a:endParaRPr/>
          </a:p>
        </p:txBody>
      </p:sp>
      <p:sp>
        <p:nvSpPr>
          <p:cNvPr id="225" name="Google Shape;225;p17"/>
          <p:cNvSpPr txBox="1"/>
          <p:nvPr/>
        </p:nvSpPr>
        <p:spPr>
          <a:xfrm>
            <a:off x="609600" y="1070520"/>
            <a:ext cx="1158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Objetivos del Proyecto</a:t>
            </a:r>
            <a:endParaRPr/>
          </a:p>
        </p:txBody>
      </p:sp>
      <p:sp>
        <p:nvSpPr>
          <p:cNvPr id="226" name="Google Shape;226;p17"/>
          <p:cNvSpPr txBox="1"/>
          <p:nvPr/>
        </p:nvSpPr>
        <p:spPr>
          <a:xfrm>
            <a:off x="838200" y="2712690"/>
            <a:ext cx="113538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0A5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OBJETIVO GENERAL</a:t>
            </a:r>
            <a:endParaRPr/>
          </a:p>
        </p:txBody>
      </p:sp>
      <p:sp>
        <p:nvSpPr>
          <p:cNvPr id="227" name="Google Shape;227;p17"/>
          <p:cNvSpPr txBox="1"/>
          <p:nvPr/>
        </p:nvSpPr>
        <p:spPr>
          <a:xfrm>
            <a:off x="838200" y="2912715"/>
            <a:ext cx="106108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"Desarrollar una aplicación móvil accesible e intuitiva que facilite y acompañe a personas con poca experiencia digital, durante el proceso de búsqueda y postulación laboral."</a:t>
            </a:r>
            <a:endParaRPr/>
          </a:p>
        </p:txBody>
      </p:sp>
      <p:sp>
        <p:nvSpPr>
          <p:cNvPr id="228" name="Google Shape;228;p17"/>
          <p:cNvSpPr txBox="1"/>
          <p:nvPr/>
        </p:nvSpPr>
        <p:spPr>
          <a:xfrm>
            <a:off x="609600" y="3720256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Objetivos Específicos:</a:t>
            </a:r>
            <a:endParaRPr/>
          </a:p>
        </p:txBody>
      </p:sp>
      <p:sp>
        <p:nvSpPr>
          <p:cNvPr id="229" name="Google Shape;229;p17"/>
          <p:cNvSpPr txBox="1"/>
          <p:nvPr/>
        </p:nvSpPr>
        <p:spPr>
          <a:xfrm>
            <a:off x="771525" y="4396531"/>
            <a:ext cx="407193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Dificultades y necesidades del público objetivo.</a:t>
            </a:r>
            <a:endParaRPr/>
          </a:p>
        </p:txBody>
      </p:sp>
      <p:sp>
        <p:nvSpPr>
          <p:cNvPr id="230" name="Google Shape;230;p17"/>
          <p:cNvSpPr txBox="1"/>
          <p:nvPr/>
        </p:nvSpPr>
        <p:spPr>
          <a:xfrm>
            <a:off x="4467225" y="4396531"/>
            <a:ext cx="407193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Interfaz accesible y de navegación sencilla.</a:t>
            </a:r>
            <a:endParaRPr/>
          </a:p>
        </p:txBody>
      </p:sp>
      <p:sp>
        <p:nvSpPr>
          <p:cNvPr id="231" name="Google Shape;231;p17"/>
          <p:cNvSpPr txBox="1"/>
          <p:nvPr/>
        </p:nvSpPr>
        <p:spPr>
          <a:xfrm>
            <a:off x="8162925" y="4396531"/>
            <a:ext cx="40290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Perfil para gestionar antecedentes y habilidades.</a:t>
            </a:r>
            <a:endParaRPr/>
          </a:p>
        </p:txBody>
      </p:sp>
      <p:sp>
        <p:nvSpPr>
          <p:cNvPr id="232" name="Google Shape;232;p17"/>
          <p:cNvSpPr txBox="1"/>
          <p:nvPr/>
        </p:nvSpPr>
        <p:spPr>
          <a:xfrm>
            <a:off x="771525" y="5196631"/>
            <a:ext cx="407193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Búsqueda, filtrado y visualización comprensible.</a:t>
            </a:r>
            <a:endParaRPr/>
          </a:p>
        </p:txBody>
      </p:sp>
      <p:sp>
        <p:nvSpPr>
          <p:cNvPr id="233" name="Google Shape;233;p17"/>
          <p:cNvSpPr txBox="1"/>
          <p:nvPr/>
        </p:nvSpPr>
        <p:spPr>
          <a:xfrm>
            <a:off x="4467225" y="5196631"/>
            <a:ext cx="407193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Orientación en postulaciones y seguimiento de estado.</a:t>
            </a:r>
            <a:endParaRPr/>
          </a:p>
        </p:txBody>
      </p:sp>
      <p:sp>
        <p:nvSpPr>
          <p:cNvPr id="234" name="Google Shape;234;p17"/>
          <p:cNvSpPr txBox="1"/>
          <p:nvPr/>
        </p:nvSpPr>
        <p:spPr>
          <a:xfrm>
            <a:off x="8162925" y="5196631"/>
            <a:ext cx="40290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Integración de asistencia y análisis de compatibilidad.</a:t>
            </a:r>
            <a:endParaRPr/>
          </a:p>
        </p:txBody>
      </p:sp>
      <p:sp>
        <p:nvSpPr>
          <p:cNvPr id="235" name="Google Shape;235;p17"/>
          <p:cNvSpPr txBox="1"/>
          <p:nvPr/>
        </p:nvSpPr>
        <p:spPr>
          <a:xfrm>
            <a:off x="628650" y="4148881"/>
            <a:ext cx="4953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</a:t>
            </a:r>
            <a:endParaRPr/>
          </a:p>
        </p:txBody>
      </p:sp>
      <p:sp>
        <p:nvSpPr>
          <p:cNvPr id="236" name="Google Shape;236;p17"/>
          <p:cNvSpPr txBox="1"/>
          <p:nvPr/>
        </p:nvSpPr>
        <p:spPr>
          <a:xfrm>
            <a:off x="1076325" y="4167931"/>
            <a:ext cx="101012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Identificar</a:t>
            </a:r>
            <a:endParaRPr/>
          </a:p>
        </p:txBody>
      </p:sp>
      <p:sp>
        <p:nvSpPr>
          <p:cNvPr id="237" name="Google Shape;237;p17"/>
          <p:cNvSpPr txBox="1"/>
          <p:nvPr/>
        </p:nvSpPr>
        <p:spPr>
          <a:xfrm>
            <a:off x="4324350" y="4148881"/>
            <a:ext cx="4953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endParaRPr/>
          </a:p>
        </p:txBody>
      </p:sp>
      <p:sp>
        <p:nvSpPr>
          <p:cNvPr id="238" name="Google Shape;238;p17"/>
          <p:cNvSpPr txBox="1"/>
          <p:nvPr/>
        </p:nvSpPr>
        <p:spPr>
          <a:xfrm>
            <a:off x="4772025" y="4167931"/>
            <a:ext cx="102012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Diseñar UX</a:t>
            </a:r>
            <a:endParaRPr/>
          </a:p>
        </p:txBody>
      </p:sp>
      <p:sp>
        <p:nvSpPr>
          <p:cNvPr id="239" name="Google Shape;239;p17"/>
          <p:cNvSpPr txBox="1"/>
          <p:nvPr/>
        </p:nvSpPr>
        <p:spPr>
          <a:xfrm>
            <a:off x="8020050" y="4148881"/>
            <a:ext cx="4953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</a:t>
            </a:r>
            <a:endParaRPr/>
          </a:p>
        </p:txBody>
      </p:sp>
      <p:sp>
        <p:nvSpPr>
          <p:cNvPr id="240" name="Google Shape;240;p17"/>
          <p:cNvSpPr txBox="1"/>
          <p:nvPr/>
        </p:nvSpPr>
        <p:spPr>
          <a:xfrm>
            <a:off x="8467725" y="4167931"/>
            <a:ext cx="93011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Construir</a:t>
            </a:r>
            <a:endParaRPr/>
          </a:p>
        </p:txBody>
      </p:sp>
      <p:sp>
        <p:nvSpPr>
          <p:cNvPr id="241" name="Google Shape;241;p17"/>
          <p:cNvSpPr txBox="1"/>
          <p:nvPr/>
        </p:nvSpPr>
        <p:spPr>
          <a:xfrm>
            <a:off x="628650" y="4948981"/>
            <a:ext cx="4953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</a:t>
            </a:r>
            <a:endParaRPr/>
          </a:p>
        </p:txBody>
      </p:sp>
      <p:sp>
        <p:nvSpPr>
          <p:cNvPr id="242" name="Google Shape;242;p17"/>
          <p:cNvSpPr txBox="1"/>
          <p:nvPr/>
        </p:nvSpPr>
        <p:spPr>
          <a:xfrm>
            <a:off x="1076325" y="4968031"/>
            <a:ext cx="118014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Implementar</a:t>
            </a:r>
            <a:endParaRPr/>
          </a:p>
        </p:txBody>
      </p:sp>
      <p:sp>
        <p:nvSpPr>
          <p:cNvPr id="243" name="Google Shape;243;p17"/>
          <p:cNvSpPr txBox="1"/>
          <p:nvPr/>
        </p:nvSpPr>
        <p:spPr>
          <a:xfrm>
            <a:off x="4324350" y="4948981"/>
            <a:ext cx="4953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</a:t>
            </a:r>
            <a:endParaRPr/>
          </a:p>
        </p:txBody>
      </p:sp>
      <p:sp>
        <p:nvSpPr>
          <p:cNvPr id="244" name="Google Shape;244;p17"/>
          <p:cNvSpPr txBox="1"/>
          <p:nvPr/>
        </p:nvSpPr>
        <p:spPr>
          <a:xfrm>
            <a:off x="4772025" y="4968031"/>
            <a:ext cx="79009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Apoyar</a:t>
            </a:r>
            <a:endParaRPr/>
          </a:p>
        </p:txBody>
      </p:sp>
      <p:sp>
        <p:nvSpPr>
          <p:cNvPr id="245" name="Google Shape;245;p17"/>
          <p:cNvSpPr txBox="1"/>
          <p:nvPr/>
        </p:nvSpPr>
        <p:spPr>
          <a:xfrm>
            <a:off x="8020050" y="4948981"/>
            <a:ext cx="4953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</a:t>
            </a:r>
            <a:endParaRPr/>
          </a:p>
        </p:txBody>
      </p:sp>
      <p:sp>
        <p:nvSpPr>
          <p:cNvPr id="246" name="Google Shape;246;p17"/>
          <p:cNvSpPr txBox="1"/>
          <p:nvPr/>
        </p:nvSpPr>
        <p:spPr>
          <a:xfrm>
            <a:off x="8467725" y="4968031"/>
            <a:ext cx="95011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Evaluar IA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8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8"/>
          <p:cNvSpPr/>
          <p:nvPr/>
        </p:nvSpPr>
        <p:spPr>
          <a:xfrm>
            <a:off x="609600" y="2768798"/>
            <a:ext cx="3555950" cy="1076325"/>
          </a:xfrm>
          <a:prstGeom prst="roundRect">
            <a:avLst>
              <a:gd fmla="val 1061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4317950" y="2768798"/>
            <a:ext cx="3555950" cy="1076325"/>
          </a:xfrm>
          <a:prstGeom prst="roundRect">
            <a:avLst>
              <a:gd fmla="val 1061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8"/>
          <p:cNvSpPr/>
          <p:nvPr/>
        </p:nvSpPr>
        <p:spPr>
          <a:xfrm>
            <a:off x="8026300" y="2768798"/>
            <a:ext cx="3555950" cy="1076325"/>
          </a:xfrm>
          <a:prstGeom prst="roundRect">
            <a:avLst>
              <a:gd fmla="val 1061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8"/>
          <p:cNvSpPr/>
          <p:nvPr/>
        </p:nvSpPr>
        <p:spPr>
          <a:xfrm>
            <a:off x="609600" y="4368998"/>
            <a:ext cx="2004119" cy="914400"/>
          </a:xfrm>
          <a:prstGeom prst="roundRect">
            <a:avLst>
              <a:gd fmla="val 125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8"/>
          <p:cNvSpPr/>
          <p:nvPr/>
        </p:nvSpPr>
        <p:spPr>
          <a:xfrm>
            <a:off x="2851844" y="4368998"/>
            <a:ext cx="2004119" cy="914400"/>
          </a:xfrm>
          <a:prstGeom prst="roundRect">
            <a:avLst>
              <a:gd fmla="val 125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8"/>
          <p:cNvSpPr/>
          <p:nvPr/>
        </p:nvSpPr>
        <p:spPr>
          <a:xfrm>
            <a:off x="5094089" y="4368998"/>
            <a:ext cx="2004119" cy="914400"/>
          </a:xfrm>
          <a:prstGeom prst="roundRect">
            <a:avLst>
              <a:gd fmla="val 12500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8"/>
          <p:cNvSpPr/>
          <p:nvPr/>
        </p:nvSpPr>
        <p:spPr>
          <a:xfrm>
            <a:off x="7336333" y="4368998"/>
            <a:ext cx="2004119" cy="914400"/>
          </a:xfrm>
          <a:prstGeom prst="roundRect">
            <a:avLst>
              <a:gd fmla="val 125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8"/>
          <p:cNvSpPr/>
          <p:nvPr/>
        </p:nvSpPr>
        <p:spPr>
          <a:xfrm>
            <a:off x="9578578" y="4368998"/>
            <a:ext cx="2004119" cy="914400"/>
          </a:xfrm>
          <a:prstGeom prst="roundRect">
            <a:avLst>
              <a:gd fmla="val 125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8"/>
          <p:cNvSpPr/>
          <p:nvPr/>
        </p:nvSpPr>
        <p:spPr>
          <a:xfrm>
            <a:off x="609600" y="3835598"/>
            <a:ext cx="3555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8"/>
          <p:cNvSpPr/>
          <p:nvPr/>
        </p:nvSpPr>
        <p:spPr>
          <a:xfrm>
            <a:off x="609600" y="2768798"/>
            <a:ext cx="355595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8"/>
          <p:cNvSpPr/>
          <p:nvPr/>
        </p:nvSpPr>
        <p:spPr>
          <a:xfrm>
            <a:off x="609600" y="2768798"/>
            <a:ext cx="9525" cy="10763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8"/>
          <p:cNvSpPr/>
          <p:nvPr/>
        </p:nvSpPr>
        <p:spPr>
          <a:xfrm>
            <a:off x="4156025" y="2768798"/>
            <a:ext cx="9525" cy="10763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8"/>
          <p:cNvSpPr/>
          <p:nvPr/>
        </p:nvSpPr>
        <p:spPr>
          <a:xfrm>
            <a:off x="4317950" y="3835598"/>
            <a:ext cx="3555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8"/>
          <p:cNvSpPr/>
          <p:nvPr/>
        </p:nvSpPr>
        <p:spPr>
          <a:xfrm>
            <a:off x="4317950" y="2768798"/>
            <a:ext cx="355595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8"/>
          <p:cNvSpPr/>
          <p:nvPr/>
        </p:nvSpPr>
        <p:spPr>
          <a:xfrm>
            <a:off x="4317950" y="2768798"/>
            <a:ext cx="9525" cy="10763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8"/>
          <p:cNvSpPr/>
          <p:nvPr/>
        </p:nvSpPr>
        <p:spPr>
          <a:xfrm>
            <a:off x="7864375" y="2768798"/>
            <a:ext cx="9525" cy="10763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8"/>
          <p:cNvSpPr/>
          <p:nvPr/>
        </p:nvSpPr>
        <p:spPr>
          <a:xfrm>
            <a:off x="8026300" y="3835598"/>
            <a:ext cx="3555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8"/>
          <p:cNvSpPr/>
          <p:nvPr/>
        </p:nvSpPr>
        <p:spPr>
          <a:xfrm>
            <a:off x="8026300" y="2768798"/>
            <a:ext cx="3555950" cy="381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8"/>
          <p:cNvSpPr/>
          <p:nvPr/>
        </p:nvSpPr>
        <p:spPr>
          <a:xfrm>
            <a:off x="8026300" y="2768798"/>
            <a:ext cx="9525" cy="10763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8"/>
          <p:cNvSpPr/>
          <p:nvPr/>
        </p:nvSpPr>
        <p:spPr>
          <a:xfrm>
            <a:off x="11572726" y="2768798"/>
            <a:ext cx="9525" cy="10763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2" name="Google Shape;27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919" y="4759523"/>
            <a:ext cx="857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2164" y="4759523"/>
            <a:ext cx="857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74408" y="4759523"/>
            <a:ext cx="857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16653" y="4759523"/>
            <a:ext cx="8572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8"/>
          <p:cNvSpPr txBox="1"/>
          <p:nvPr/>
        </p:nvSpPr>
        <p:spPr>
          <a:xfrm>
            <a:off x="609600" y="43815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METODOLOGÍA DE TRABAJO</a:t>
            </a:r>
            <a:endParaRPr/>
          </a:p>
        </p:txBody>
      </p:sp>
      <p:sp>
        <p:nvSpPr>
          <p:cNvPr id="277" name="Google Shape;277;p18"/>
          <p:cNvSpPr txBox="1"/>
          <p:nvPr/>
        </p:nvSpPr>
        <p:spPr>
          <a:xfrm>
            <a:off x="609600" y="64770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SCRUM + ENFOQUE ÁGIL</a:t>
            </a:r>
            <a:endParaRPr/>
          </a:p>
        </p:txBody>
      </p:sp>
      <p:sp>
        <p:nvSpPr>
          <p:cNvPr id="278" name="Google Shape;278;p18"/>
          <p:cNvSpPr txBox="1"/>
          <p:nvPr/>
        </p:nvSpPr>
        <p:spPr>
          <a:xfrm>
            <a:off x="609600" y="2473523"/>
            <a:ext cx="115824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Roles del Equipo:</a:t>
            </a:r>
            <a:endParaRPr/>
          </a:p>
        </p:txBody>
      </p:sp>
      <p:sp>
        <p:nvSpPr>
          <p:cNvPr id="279" name="Google Shape;279;p18"/>
          <p:cNvSpPr txBox="1"/>
          <p:nvPr/>
        </p:nvSpPr>
        <p:spPr>
          <a:xfrm>
            <a:off x="609600" y="4073723"/>
            <a:ext cx="115824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Ciclo de Desarrollo por Sprints:</a:t>
            </a:r>
            <a:endParaRPr/>
          </a:p>
        </p:txBody>
      </p:sp>
      <p:sp>
        <p:nvSpPr>
          <p:cNvPr id="280" name="Google Shape;280;p18"/>
          <p:cNvSpPr txBox="1"/>
          <p:nvPr/>
        </p:nvSpPr>
        <p:spPr>
          <a:xfrm>
            <a:off x="473385" y="4521398"/>
            <a:ext cx="22765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PASO 1</a:t>
            </a:r>
            <a:endParaRPr/>
          </a:p>
        </p:txBody>
      </p:sp>
      <p:sp>
        <p:nvSpPr>
          <p:cNvPr id="281" name="Google Shape;281;p18"/>
          <p:cNvSpPr txBox="1"/>
          <p:nvPr/>
        </p:nvSpPr>
        <p:spPr>
          <a:xfrm>
            <a:off x="2715629" y="4521398"/>
            <a:ext cx="22765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PASO 2</a:t>
            </a:r>
            <a:endParaRPr/>
          </a:p>
        </p:txBody>
      </p:sp>
      <p:sp>
        <p:nvSpPr>
          <p:cNvPr id="282" name="Google Shape;282;p18"/>
          <p:cNvSpPr txBox="1"/>
          <p:nvPr/>
        </p:nvSpPr>
        <p:spPr>
          <a:xfrm>
            <a:off x="4957874" y="4521398"/>
            <a:ext cx="22765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PASO 3</a:t>
            </a:r>
            <a:endParaRPr/>
          </a:p>
        </p:txBody>
      </p:sp>
      <p:sp>
        <p:nvSpPr>
          <p:cNvPr id="283" name="Google Shape;283;p18"/>
          <p:cNvSpPr txBox="1"/>
          <p:nvPr/>
        </p:nvSpPr>
        <p:spPr>
          <a:xfrm>
            <a:off x="7200118" y="4521398"/>
            <a:ext cx="22765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PASO 4</a:t>
            </a:r>
            <a:endParaRPr/>
          </a:p>
        </p:txBody>
      </p:sp>
      <p:sp>
        <p:nvSpPr>
          <p:cNvPr id="284" name="Google Shape;284;p18"/>
          <p:cNvSpPr txBox="1"/>
          <p:nvPr/>
        </p:nvSpPr>
        <p:spPr>
          <a:xfrm>
            <a:off x="9442363" y="4521398"/>
            <a:ext cx="22765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PASO 5</a:t>
            </a:r>
            <a:endParaRPr/>
          </a:p>
        </p:txBody>
      </p:sp>
      <p:sp>
        <p:nvSpPr>
          <p:cNvPr id="285" name="Google Shape;285;p18"/>
          <p:cNvSpPr txBox="1"/>
          <p:nvPr/>
        </p:nvSpPr>
        <p:spPr>
          <a:xfrm>
            <a:off x="809625" y="2959298"/>
            <a:ext cx="39448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PRODUCT OWNER</a:t>
            </a:r>
            <a:endParaRPr/>
          </a:p>
        </p:txBody>
      </p:sp>
      <p:sp>
        <p:nvSpPr>
          <p:cNvPr id="286" name="Google Shape;286;p18"/>
          <p:cNvSpPr txBox="1"/>
          <p:nvPr/>
        </p:nvSpPr>
        <p:spPr>
          <a:xfrm>
            <a:off x="809625" y="3140273"/>
            <a:ext cx="414211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Martina Gutiérrez</a:t>
            </a:r>
            <a:endParaRPr/>
          </a:p>
        </p:txBody>
      </p:sp>
      <p:sp>
        <p:nvSpPr>
          <p:cNvPr id="287" name="Google Shape;287;p18"/>
          <p:cNvSpPr txBox="1"/>
          <p:nvPr/>
        </p:nvSpPr>
        <p:spPr>
          <a:xfrm>
            <a:off x="809625" y="3378398"/>
            <a:ext cx="3251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Prioriza backlog y salvaguarda las necesidades del usuario.</a:t>
            </a:r>
            <a:endParaRPr/>
          </a:p>
        </p:txBody>
      </p:sp>
      <p:sp>
        <p:nvSpPr>
          <p:cNvPr id="288" name="Google Shape;288;p18"/>
          <p:cNvSpPr txBox="1"/>
          <p:nvPr/>
        </p:nvSpPr>
        <p:spPr>
          <a:xfrm>
            <a:off x="4517975" y="2959298"/>
            <a:ext cx="39448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SCRUM MASTER</a:t>
            </a:r>
            <a:endParaRPr/>
          </a:p>
        </p:txBody>
      </p:sp>
      <p:sp>
        <p:nvSpPr>
          <p:cNvPr id="289" name="Google Shape;289;p18"/>
          <p:cNvSpPr txBox="1"/>
          <p:nvPr/>
        </p:nvSpPr>
        <p:spPr>
          <a:xfrm>
            <a:off x="4517975" y="3140273"/>
            <a:ext cx="414211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Martina Venegas</a:t>
            </a:r>
            <a:endParaRPr/>
          </a:p>
        </p:txBody>
      </p:sp>
      <p:sp>
        <p:nvSpPr>
          <p:cNvPr id="290" name="Google Shape;290;p18"/>
          <p:cNvSpPr txBox="1"/>
          <p:nvPr/>
        </p:nvSpPr>
        <p:spPr>
          <a:xfrm>
            <a:off x="4517975" y="3378398"/>
            <a:ext cx="3251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Facilita coordinación, elimina obstáculos y guía la metodología.</a:t>
            </a:r>
            <a:endParaRPr/>
          </a:p>
        </p:txBody>
      </p:sp>
      <p:sp>
        <p:nvSpPr>
          <p:cNvPr id="291" name="Google Shape;291;p18"/>
          <p:cNvSpPr txBox="1"/>
          <p:nvPr/>
        </p:nvSpPr>
        <p:spPr>
          <a:xfrm>
            <a:off x="8226325" y="2959298"/>
            <a:ext cx="39448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9770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DEV TEAM</a:t>
            </a:r>
            <a:endParaRPr/>
          </a:p>
        </p:txBody>
      </p:sp>
      <p:sp>
        <p:nvSpPr>
          <p:cNvPr id="292" name="Google Shape;292;p18"/>
          <p:cNvSpPr txBox="1"/>
          <p:nvPr/>
        </p:nvSpPr>
        <p:spPr>
          <a:xfrm>
            <a:off x="8226325" y="3140273"/>
            <a:ext cx="396567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Daniel Rodríguez + eq.</a:t>
            </a:r>
            <a:endParaRPr/>
          </a:p>
        </p:txBody>
      </p:sp>
      <p:sp>
        <p:nvSpPr>
          <p:cNvPr id="293" name="Google Shape;293;p18"/>
          <p:cNvSpPr txBox="1"/>
          <p:nvPr/>
        </p:nvSpPr>
        <p:spPr>
          <a:xfrm>
            <a:off x="8226325" y="3378398"/>
            <a:ext cx="3251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Diseña, programa, integra, realiza pruebas y documenta.</a:t>
            </a:r>
            <a:endParaRPr/>
          </a:p>
        </p:txBody>
      </p:sp>
      <p:sp>
        <p:nvSpPr>
          <p:cNvPr id="294" name="Google Shape;294;p18"/>
          <p:cNvSpPr txBox="1"/>
          <p:nvPr/>
        </p:nvSpPr>
        <p:spPr>
          <a:xfrm>
            <a:off x="458976" y="4769048"/>
            <a:ext cx="230536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Product Backlog</a:t>
            </a:r>
            <a:endParaRPr/>
          </a:p>
        </p:txBody>
      </p:sp>
      <p:sp>
        <p:nvSpPr>
          <p:cNvPr id="295" name="Google Shape;295;p18"/>
          <p:cNvSpPr txBox="1"/>
          <p:nvPr/>
        </p:nvSpPr>
        <p:spPr>
          <a:xfrm>
            <a:off x="513866" y="4978598"/>
            <a:ext cx="2195586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Requerimientos priorizados.</a:t>
            </a:r>
            <a:endParaRPr/>
          </a:p>
        </p:txBody>
      </p:sp>
      <p:sp>
        <p:nvSpPr>
          <p:cNvPr id="296" name="Google Shape;296;p18"/>
          <p:cNvSpPr txBox="1"/>
          <p:nvPr/>
        </p:nvSpPr>
        <p:spPr>
          <a:xfrm>
            <a:off x="2701221" y="4769048"/>
            <a:ext cx="230536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Sprint Planning</a:t>
            </a:r>
            <a:endParaRPr/>
          </a:p>
        </p:txBody>
      </p:sp>
      <p:sp>
        <p:nvSpPr>
          <p:cNvPr id="297" name="Google Shape;297;p18"/>
          <p:cNvSpPr txBox="1"/>
          <p:nvPr/>
        </p:nvSpPr>
        <p:spPr>
          <a:xfrm>
            <a:off x="2756110" y="4978598"/>
            <a:ext cx="2195586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Selección de tareas.</a:t>
            </a:r>
            <a:endParaRPr/>
          </a:p>
        </p:txBody>
      </p:sp>
      <p:sp>
        <p:nvSpPr>
          <p:cNvPr id="298" name="Google Shape;298;p18"/>
          <p:cNvSpPr txBox="1"/>
          <p:nvPr/>
        </p:nvSpPr>
        <p:spPr>
          <a:xfrm>
            <a:off x="4943465" y="4769048"/>
            <a:ext cx="230536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Desarrollo</a:t>
            </a:r>
            <a:endParaRPr/>
          </a:p>
        </p:txBody>
      </p:sp>
      <p:sp>
        <p:nvSpPr>
          <p:cNvPr id="299" name="Google Shape;299;p18"/>
          <p:cNvSpPr txBox="1"/>
          <p:nvPr/>
        </p:nvSpPr>
        <p:spPr>
          <a:xfrm>
            <a:off x="4998355" y="4978598"/>
            <a:ext cx="2195586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B82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Diseño, código y tests.</a:t>
            </a:r>
            <a:endParaRPr/>
          </a:p>
        </p:txBody>
      </p:sp>
      <p:sp>
        <p:nvSpPr>
          <p:cNvPr id="300" name="Google Shape;300;p18"/>
          <p:cNvSpPr txBox="1"/>
          <p:nvPr/>
        </p:nvSpPr>
        <p:spPr>
          <a:xfrm>
            <a:off x="7185710" y="4769048"/>
            <a:ext cx="230536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Revisión</a:t>
            </a:r>
            <a:endParaRPr/>
          </a:p>
        </p:txBody>
      </p:sp>
      <p:sp>
        <p:nvSpPr>
          <p:cNvPr id="301" name="Google Shape;301;p18"/>
          <p:cNvSpPr txBox="1"/>
          <p:nvPr/>
        </p:nvSpPr>
        <p:spPr>
          <a:xfrm>
            <a:off x="7240599" y="4978598"/>
            <a:ext cx="2195586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Validar funcionalidades.</a:t>
            </a:r>
            <a:endParaRPr/>
          </a:p>
        </p:txBody>
      </p:sp>
      <p:sp>
        <p:nvSpPr>
          <p:cNvPr id="302" name="Google Shape;302;p18"/>
          <p:cNvSpPr txBox="1"/>
          <p:nvPr/>
        </p:nvSpPr>
        <p:spPr>
          <a:xfrm>
            <a:off x="9427954" y="4769048"/>
            <a:ext cx="230536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Retrospectiva</a:t>
            </a:r>
            <a:endParaRPr/>
          </a:p>
        </p:txBody>
      </p:sp>
      <p:sp>
        <p:nvSpPr>
          <p:cNvPr id="303" name="Google Shape;303;p18"/>
          <p:cNvSpPr txBox="1"/>
          <p:nvPr/>
        </p:nvSpPr>
        <p:spPr>
          <a:xfrm>
            <a:off x="9482844" y="4978598"/>
            <a:ext cx="2195586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Identificar mejoras.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9"/>
          <p:cNvSpPr/>
          <p:nvPr/>
        </p:nvSpPr>
        <p:spPr>
          <a:xfrm>
            <a:off x="4508599" y="2687835"/>
            <a:ext cx="2078235" cy="171450"/>
          </a:xfrm>
          <a:prstGeom prst="roundRect">
            <a:avLst>
              <a:gd fmla="val 22222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9"/>
          <p:cNvSpPr/>
          <p:nvPr/>
        </p:nvSpPr>
        <p:spPr>
          <a:xfrm>
            <a:off x="5132040" y="3135510"/>
            <a:ext cx="1454646" cy="171450"/>
          </a:xfrm>
          <a:prstGeom prst="roundRect">
            <a:avLst>
              <a:gd fmla="val 22222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9"/>
          <p:cNvSpPr/>
          <p:nvPr/>
        </p:nvSpPr>
        <p:spPr>
          <a:xfrm>
            <a:off x="6701135" y="3583185"/>
            <a:ext cx="1313259" cy="171450"/>
          </a:xfrm>
          <a:prstGeom prst="roundRect">
            <a:avLst>
              <a:gd fmla="val 22222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9"/>
          <p:cNvSpPr/>
          <p:nvPr/>
        </p:nvSpPr>
        <p:spPr>
          <a:xfrm>
            <a:off x="7226349" y="4030860"/>
            <a:ext cx="2101155" cy="171450"/>
          </a:xfrm>
          <a:prstGeom prst="roundRect">
            <a:avLst>
              <a:gd fmla="val 22222" name="adj"/>
            </a:avLst>
          </a:prstGeom>
          <a:solidFill>
            <a:srgbClr val="0369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9"/>
          <p:cNvSpPr/>
          <p:nvPr/>
        </p:nvSpPr>
        <p:spPr>
          <a:xfrm>
            <a:off x="7751712" y="4478535"/>
            <a:ext cx="1575792" cy="171450"/>
          </a:xfrm>
          <a:prstGeom prst="roundRect">
            <a:avLst>
              <a:gd fmla="val 22222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9"/>
          <p:cNvSpPr/>
          <p:nvPr/>
        </p:nvSpPr>
        <p:spPr>
          <a:xfrm>
            <a:off x="9441953" y="4926210"/>
            <a:ext cx="1244203" cy="171450"/>
          </a:xfrm>
          <a:prstGeom prst="roundRect">
            <a:avLst>
              <a:gd fmla="val 22222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9"/>
          <p:cNvSpPr/>
          <p:nvPr/>
        </p:nvSpPr>
        <p:spPr>
          <a:xfrm>
            <a:off x="10478839" y="5373885"/>
            <a:ext cx="1036885" cy="171450"/>
          </a:xfrm>
          <a:prstGeom prst="roundRect">
            <a:avLst>
              <a:gd fmla="val 22222" name="adj"/>
            </a:avLst>
          </a:prstGeom>
          <a:solidFill>
            <a:srgbClr val="158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6" name="Google Shape;316;p19"/>
          <p:cNvGraphicFramePr/>
          <p:nvPr/>
        </p:nvGraphicFramePr>
        <p:xfrm>
          <a:off x="609600" y="22115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{C6A22905-5857-42AA-AFDA-1E2C317805E5}</a:tableStyleId>
              </a:tblPr>
              <a:tblGrid>
                <a:gridCol w="3837075"/>
                <a:gridCol w="2192525"/>
                <a:gridCol w="2740825"/>
                <a:gridCol w="2192825"/>
              </a:tblGrid>
              <a:tr h="434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Actividad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FASE 1 (S1-S6)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FASE 2 (S7-S13)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FASE 3 (S14-S18)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75569"/>
                    </a:solidFill>
                  </a:tcPr>
                </a:tc>
              </a:tr>
              <a:tr h="434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1. Levantamiento de Requisitos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825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M. Gutiérrez (PO) · Req. y Alcance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76A5AF"/>
                          </a:solidFill>
                          <a:highlight>
                            <a:srgbClr val="76A5A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r>
                        <a:rPr lang="en-US" sz="1800">
                          <a:solidFill>
                            <a:srgbClr val="76A5AF"/>
                          </a:solidFill>
                          <a:highlight>
                            <a:srgbClr val="76A5A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———————--—</a:t>
                      </a:r>
                      <a:endParaRPr sz="1800">
                        <a:solidFill>
                          <a:srgbClr val="76A5AF"/>
                        </a:solidFill>
                        <a:highlight>
                          <a:srgbClr val="76A5A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4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2. Diseño UX/UI y Prototipado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825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M. Gutiérrez / Dev Team · Prototipo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76A5AF"/>
                          </a:solidFill>
                          <a:highlight>
                            <a:srgbClr val="76A5A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————————--—</a:t>
                      </a:r>
                      <a:endParaRPr sz="1800" u="none" cap="none" strike="noStrike">
                        <a:solidFill>
                          <a:srgbClr val="76A5AF"/>
                        </a:solidFill>
                        <a:highlight>
                          <a:srgbClr val="76A5A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34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3. Arquitectura y Base de Datos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825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D. Rodríguez + Eq. · Modelo Datos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76A5AF"/>
                        </a:solidFill>
                        <a:highlight>
                          <a:srgbClr val="76A5A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D97706"/>
                          </a:solidFill>
                          <a:highlight>
                            <a:srgbClr val="D97706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———————————-—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4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4. Desarrollo Frontend Móvil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825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D. Rodríguez + Eq. · MVP Frontend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D97706"/>
                          </a:solidFill>
                          <a:highlight>
                            <a:srgbClr val="D97706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———————————-—</a:t>
                      </a:r>
                      <a:endParaRPr sz="1800" u="none" cap="none" strike="noStrike">
                        <a:solidFill>
                          <a:srgbClr val="D97706"/>
                        </a:solidFill>
                        <a:highlight>
                          <a:srgbClr val="D97706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34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5. Backend + Servicios / IA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825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D. Rodríguez + Eq. · APIs &amp; 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D97706"/>
                          </a:solidFill>
                          <a:highlight>
                            <a:srgbClr val="D97706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———————————-—</a:t>
                      </a:r>
                      <a:endParaRPr sz="1800" u="none" cap="none" strike="noStrike">
                        <a:solidFill>
                          <a:srgbClr val="D97706"/>
                        </a:solidFill>
                        <a:highlight>
                          <a:srgbClr val="D97706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4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6. Pruebas Funcionales y Usabilidad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825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M. Venegas / Eq. · Informe QA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D97706"/>
                          </a:solidFill>
                          <a:highlight>
                            <a:srgbClr val="D97706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———————————-—</a:t>
                      </a:r>
                      <a:endParaRPr sz="1800" u="none" cap="none" strike="noStrike">
                        <a:solidFill>
                          <a:srgbClr val="D97706"/>
                        </a:solidFill>
                        <a:highlight>
                          <a:srgbClr val="D97706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34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7. Cierre, Despliegue y Manuales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825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D. Rodríguez + Eq. · Cierre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AF6664"/>
                          </a:solidFill>
                          <a:highlight>
                            <a:schemeClr val="accent2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———————--——</a:t>
                      </a:r>
                      <a:endParaRPr sz="1800" u="none" cap="none" strike="noStrike">
                        <a:solidFill>
                          <a:srgbClr val="AF6664"/>
                        </a:solidFill>
                        <a:highlight>
                          <a:schemeClr val="accent2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7" name="Google Shape;317;p19"/>
          <p:cNvSpPr txBox="1"/>
          <p:nvPr/>
        </p:nvSpPr>
        <p:spPr>
          <a:xfrm>
            <a:off x="609600" y="43815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CRONOGRAMA</a:t>
            </a:r>
            <a:endParaRPr/>
          </a:p>
        </p:txBody>
      </p:sp>
      <p:sp>
        <p:nvSpPr>
          <p:cNvPr id="318" name="Google Shape;318;p19"/>
          <p:cNvSpPr txBox="1"/>
          <p:nvPr/>
        </p:nvSpPr>
        <p:spPr>
          <a:xfrm>
            <a:off x="609600" y="64770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DESARROLLO A 18 SEMANAS</a:t>
            </a:r>
            <a:endParaRPr/>
          </a:p>
        </p:txBody>
      </p:sp>
      <p:sp>
        <p:nvSpPr>
          <p:cNvPr id="319" name="Google Shape;319;p19"/>
          <p:cNvSpPr txBox="1"/>
          <p:nvPr/>
        </p:nvSpPr>
        <p:spPr>
          <a:xfrm>
            <a:off x="609600" y="1070520"/>
            <a:ext cx="1158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 de Trabajo · Carta Gantt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0"/>
          <p:cNvSpPr/>
          <p:nvPr/>
        </p:nvSpPr>
        <p:spPr>
          <a:xfrm>
            <a:off x="609600" y="2016323"/>
            <a:ext cx="10972800" cy="704850"/>
          </a:xfrm>
          <a:prstGeom prst="roundRect">
            <a:avLst>
              <a:gd fmla="val 1621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0"/>
          <p:cNvSpPr/>
          <p:nvPr/>
        </p:nvSpPr>
        <p:spPr>
          <a:xfrm>
            <a:off x="609600" y="2835473"/>
            <a:ext cx="10972800" cy="704850"/>
          </a:xfrm>
          <a:prstGeom prst="roundRect">
            <a:avLst>
              <a:gd fmla="val 1621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0"/>
          <p:cNvSpPr/>
          <p:nvPr/>
        </p:nvSpPr>
        <p:spPr>
          <a:xfrm>
            <a:off x="609600" y="3654623"/>
            <a:ext cx="10972800" cy="704850"/>
          </a:xfrm>
          <a:prstGeom prst="roundRect">
            <a:avLst>
              <a:gd fmla="val 16216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0"/>
          <p:cNvSpPr/>
          <p:nvPr/>
        </p:nvSpPr>
        <p:spPr>
          <a:xfrm>
            <a:off x="609600" y="4473773"/>
            <a:ext cx="10972800" cy="704850"/>
          </a:xfrm>
          <a:prstGeom prst="roundRect">
            <a:avLst>
              <a:gd fmla="val 1621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0"/>
          <p:cNvSpPr/>
          <p:nvPr/>
        </p:nvSpPr>
        <p:spPr>
          <a:xfrm>
            <a:off x="609600" y="5292923"/>
            <a:ext cx="10972800" cy="704850"/>
          </a:xfrm>
          <a:prstGeom prst="roundRect">
            <a:avLst>
              <a:gd fmla="val 1621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0"/>
          <p:cNvSpPr/>
          <p:nvPr/>
        </p:nvSpPr>
        <p:spPr>
          <a:xfrm>
            <a:off x="609600" y="4349948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0"/>
          <p:cNvSpPr/>
          <p:nvPr/>
        </p:nvSpPr>
        <p:spPr>
          <a:xfrm>
            <a:off x="609600" y="3654623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0"/>
          <p:cNvSpPr/>
          <p:nvPr/>
        </p:nvSpPr>
        <p:spPr>
          <a:xfrm>
            <a:off x="609600" y="3654623"/>
            <a:ext cx="38100" cy="7048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0"/>
          <p:cNvSpPr/>
          <p:nvPr/>
        </p:nvSpPr>
        <p:spPr>
          <a:xfrm>
            <a:off x="11572875" y="3654623"/>
            <a:ext cx="9525" cy="7048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4" name="Google Shape;33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" y="217824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" y="299739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200" y="381654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7" name="Google Shape;33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" y="463569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8" name="Google Shape;338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545484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9" name="Google Shape;339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3450" y="2283023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4875" y="3102173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1" name="Google Shape;341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62025" y="3921323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2" name="Google Shape;342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33450" y="4740473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3" name="Google Shape;343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23925" y="5559623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0"/>
          <p:cNvSpPr txBox="1"/>
          <p:nvPr/>
        </p:nvSpPr>
        <p:spPr>
          <a:xfrm>
            <a:off x="609600" y="43815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RESULTADOS</a:t>
            </a:r>
            <a:endParaRPr/>
          </a:p>
        </p:txBody>
      </p:sp>
      <p:sp>
        <p:nvSpPr>
          <p:cNvPr id="345" name="Google Shape;345;p20"/>
          <p:cNvSpPr txBox="1"/>
          <p:nvPr/>
        </p:nvSpPr>
        <p:spPr>
          <a:xfrm>
            <a:off x="609600" y="64770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ENTREGABLES DEL PROYECTO</a:t>
            </a:r>
            <a:endParaRPr/>
          </a:p>
        </p:txBody>
      </p:sp>
      <p:sp>
        <p:nvSpPr>
          <p:cNvPr id="346" name="Google Shape;346;p20"/>
          <p:cNvSpPr txBox="1"/>
          <p:nvPr/>
        </p:nvSpPr>
        <p:spPr>
          <a:xfrm>
            <a:off x="609600" y="1070520"/>
            <a:ext cx="1158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Evidencias Esperadas del Capstone</a:t>
            </a:r>
            <a:endParaRPr/>
          </a:p>
        </p:txBody>
      </p:sp>
      <p:sp>
        <p:nvSpPr>
          <p:cNvPr id="347" name="Google Shape;347;p20"/>
          <p:cNvSpPr txBox="1"/>
          <p:nvPr/>
        </p:nvSpPr>
        <p:spPr>
          <a:xfrm>
            <a:off x="1381125" y="2192535"/>
            <a:ext cx="6975871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Documento de Requerimientos y Prototipo UX/UI</a:t>
            </a:r>
            <a:endParaRPr/>
          </a:p>
        </p:txBody>
      </p:sp>
      <p:sp>
        <p:nvSpPr>
          <p:cNvPr id="348" name="Google Shape;348;p20"/>
          <p:cNvSpPr txBox="1"/>
          <p:nvPr/>
        </p:nvSpPr>
        <p:spPr>
          <a:xfrm>
            <a:off x="1381125" y="2392560"/>
            <a:ext cx="664368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Historias de usuario priorizadas y prototipos navegables enfocados en accesibilidad visual.</a:t>
            </a:r>
            <a:endParaRPr/>
          </a:p>
        </p:txBody>
      </p:sp>
      <p:sp>
        <p:nvSpPr>
          <p:cNvPr id="349" name="Google Shape;349;p20"/>
          <p:cNvSpPr txBox="1"/>
          <p:nvPr/>
        </p:nvSpPr>
        <p:spPr>
          <a:xfrm>
            <a:off x="1381125" y="3011685"/>
            <a:ext cx="6988373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Especificación de Arquitectura y Modelo de Datos</a:t>
            </a:r>
            <a:endParaRPr/>
          </a:p>
        </p:txBody>
      </p:sp>
      <p:sp>
        <p:nvSpPr>
          <p:cNvPr id="350" name="Google Shape;350;p20"/>
          <p:cNvSpPr txBox="1"/>
          <p:nvPr/>
        </p:nvSpPr>
        <p:spPr>
          <a:xfrm>
            <a:off x="1381125" y="3211710"/>
            <a:ext cx="665559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Diagramas de sistema, modelo de base de datos y especificación de endpoints/APIs REST.</a:t>
            </a:r>
            <a:endParaRPr/>
          </a:p>
        </p:txBody>
      </p:sp>
      <p:sp>
        <p:nvSpPr>
          <p:cNvPr id="351" name="Google Shape;351;p20"/>
          <p:cNvSpPr txBox="1"/>
          <p:nvPr/>
        </p:nvSpPr>
        <p:spPr>
          <a:xfrm>
            <a:off x="1409700" y="3830835"/>
            <a:ext cx="6413301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Producto Mínimo Viable (MVP)</a:t>
            </a:r>
            <a:endParaRPr/>
          </a:p>
        </p:txBody>
      </p:sp>
      <p:sp>
        <p:nvSpPr>
          <p:cNvPr id="352" name="Google Shape;352;p20"/>
          <p:cNvSpPr txBox="1"/>
          <p:nvPr/>
        </p:nvSpPr>
        <p:spPr>
          <a:xfrm>
            <a:off x="1409700" y="4030860"/>
            <a:ext cx="610790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Código fuente en GitHub y ejecutable móvil (APK) plenamente operativo y funcional.</a:t>
            </a:r>
            <a:endParaRPr/>
          </a:p>
        </p:txBody>
      </p:sp>
      <p:sp>
        <p:nvSpPr>
          <p:cNvPr id="353" name="Google Shape;353;p20"/>
          <p:cNvSpPr txBox="1"/>
          <p:nvPr/>
        </p:nvSpPr>
        <p:spPr>
          <a:xfrm>
            <a:off x="1381125" y="4649985"/>
            <a:ext cx="636329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Informe de Pruebas de Usabilidad y Calidad (QA)</a:t>
            </a:r>
            <a:endParaRPr/>
          </a:p>
        </p:txBody>
      </p:sp>
      <p:sp>
        <p:nvSpPr>
          <p:cNvPr id="354" name="Google Shape;354;p20"/>
          <p:cNvSpPr txBox="1"/>
          <p:nvPr/>
        </p:nvSpPr>
        <p:spPr>
          <a:xfrm>
            <a:off x="1381125" y="4850010"/>
            <a:ext cx="6060281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Reporte de pruebas técnicas y test de usabilidad con usuarios del público objetivo.</a:t>
            </a:r>
            <a:endParaRPr/>
          </a:p>
        </p:txBody>
      </p:sp>
      <p:sp>
        <p:nvSpPr>
          <p:cNvPr id="355" name="Google Shape;355;p20"/>
          <p:cNvSpPr txBox="1"/>
          <p:nvPr/>
        </p:nvSpPr>
        <p:spPr>
          <a:xfrm>
            <a:off x="1381125" y="5469135"/>
            <a:ext cx="6238279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Manual Técnico y de Usuario Final</a:t>
            </a:r>
            <a:endParaRPr/>
          </a:p>
        </p:txBody>
      </p:sp>
      <p:sp>
        <p:nvSpPr>
          <p:cNvPr id="356" name="Google Shape;356;p20"/>
          <p:cNvSpPr txBox="1"/>
          <p:nvPr/>
        </p:nvSpPr>
        <p:spPr>
          <a:xfrm>
            <a:off x="1381125" y="5669160"/>
            <a:ext cx="594121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Guía de instalación/mantenimiento técnico y manual visual de uso de la aplicación.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1"/>
          <p:cNvSpPr/>
          <p:nvPr/>
        </p:nvSpPr>
        <p:spPr>
          <a:xfrm>
            <a:off x="5810250" y="4662487"/>
            <a:ext cx="571500" cy="38100"/>
          </a:xfrm>
          <a:prstGeom prst="roundRect">
            <a:avLst>
              <a:gd fmla="val 50000" name="adj"/>
            </a:avLst>
          </a:prstGeom>
          <a:solidFill>
            <a:srgbClr val="8D817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62" name="Google Shape;36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2157412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3" name="Google Shape;36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1687" y="2366962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1"/>
          <p:cNvSpPr txBox="1"/>
          <p:nvPr/>
        </p:nvSpPr>
        <p:spPr>
          <a:xfrm>
            <a:off x="3908226" y="3224212"/>
            <a:ext cx="4375546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¿Preguntas?</a:t>
            </a:r>
            <a:endParaRPr/>
          </a:p>
        </p:txBody>
      </p:sp>
      <p:sp>
        <p:nvSpPr>
          <p:cNvPr id="365" name="Google Shape;365;p21"/>
          <p:cNvSpPr txBox="1"/>
          <p:nvPr/>
        </p:nvSpPr>
        <p:spPr>
          <a:xfrm>
            <a:off x="2988468" y="4043362"/>
            <a:ext cx="621506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Gracias por su atención en la presentación del proyecto.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